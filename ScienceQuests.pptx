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8" r:id="rId3"/>
    <p:sldId id="259" r:id="rId4"/>
    <p:sldId id="260" r:id="rId5"/>
    <p:sldId id="261" r:id="rId6"/>
    <p:sldId id="267" r:id="rId7"/>
    <p:sldId id="268" r:id="rId8"/>
    <p:sldId id="262" r:id="rId9"/>
  </p:sldIdLst>
  <p:sldSz cx="12192000" cy="6858000"/>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95211" autoAdjust="0"/>
  </p:normalViewPr>
  <p:slideViewPr>
    <p:cSldViewPr snapToGrid="0">
      <p:cViewPr varScale="1">
        <p:scale>
          <a:sx n="117" d="100"/>
          <a:sy n="117" d="100"/>
        </p:scale>
        <p:origin x="3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o-RO"/>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67A3F7-C58A-417A-94F2-8FCD4A1D63F6}" type="datetimeFigureOut">
              <a:rPr lang="ro-RO" smtClean="0"/>
              <a:t>10.02.2026</a:t>
            </a:fld>
            <a:endParaRPr lang="ro-RO"/>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o-RO"/>
          </a:p>
        </p:txBody>
      </p:sp>
      <p:sp>
        <p:nvSpPr>
          <p:cNvPr id="5" name="Substituent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o-RO"/>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9EEA32-B162-4217-BA33-E13FAC1537B1}" type="slidenum">
              <a:rPr lang="ro-RO" smtClean="0"/>
              <a:t>‹#›</a:t>
            </a:fld>
            <a:endParaRPr lang="ro-RO"/>
          </a:p>
        </p:txBody>
      </p:sp>
    </p:spTree>
    <p:extLst>
      <p:ext uri="{BB962C8B-B14F-4D97-AF65-F5344CB8AC3E}">
        <p14:creationId xmlns:p14="http://schemas.microsoft.com/office/powerpoint/2010/main" val="3913198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5"/>
          </p:nvPr>
        </p:nvSpPr>
        <p:spPr/>
        <p:txBody>
          <a:bodyPr/>
          <a:lstStyle/>
          <a:p>
            <a:fld id="{1F9EEA32-B162-4217-BA33-E13FAC1537B1}" type="slidenum">
              <a:rPr lang="ro-RO" smtClean="0"/>
              <a:t>5</a:t>
            </a:fld>
            <a:endParaRPr lang="ro-RO"/>
          </a:p>
        </p:txBody>
      </p:sp>
    </p:spTree>
    <p:extLst>
      <p:ext uri="{BB962C8B-B14F-4D97-AF65-F5344CB8AC3E}">
        <p14:creationId xmlns:p14="http://schemas.microsoft.com/office/powerpoint/2010/main" val="3642092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0A8D9-483E-4C38-70AF-AC5EB69029C7}"/>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8EB2C428-DBEA-EC49-2608-605EEC43BC17}"/>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A6A8A25E-408B-35C0-0962-37E77221E8EB}"/>
              </a:ext>
            </a:extLst>
          </p:cNvPr>
          <p:cNvSpPr>
            <a:spLocks noGrp="1"/>
          </p:cNvSpPr>
          <p:nvPr>
            <p:ph type="body" idx="1"/>
          </p:nvPr>
        </p:nvSpPr>
        <p:spPr/>
        <p:txBody>
          <a:bodyPr/>
          <a:lstStyle/>
          <a:p>
            <a:endParaRPr lang="ro-RO" dirty="0"/>
          </a:p>
        </p:txBody>
      </p:sp>
      <p:sp>
        <p:nvSpPr>
          <p:cNvPr id="4" name="Substituent număr diapozitiv 3">
            <a:extLst>
              <a:ext uri="{FF2B5EF4-FFF2-40B4-BE49-F238E27FC236}">
                <a16:creationId xmlns:a16="http://schemas.microsoft.com/office/drawing/2014/main" id="{F9156EF7-06F3-373F-2895-BEDA04B46F87}"/>
              </a:ext>
            </a:extLst>
          </p:cNvPr>
          <p:cNvSpPr>
            <a:spLocks noGrp="1"/>
          </p:cNvSpPr>
          <p:nvPr>
            <p:ph type="sldNum" sz="quarter" idx="5"/>
          </p:nvPr>
        </p:nvSpPr>
        <p:spPr/>
        <p:txBody>
          <a:bodyPr/>
          <a:lstStyle/>
          <a:p>
            <a:fld id="{1F9EEA32-B162-4217-BA33-E13FAC1537B1}" type="slidenum">
              <a:rPr lang="ro-RO" smtClean="0"/>
              <a:t>7</a:t>
            </a:fld>
            <a:endParaRPr lang="ro-RO"/>
          </a:p>
        </p:txBody>
      </p:sp>
    </p:spTree>
    <p:extLst>
      <p:ext uri="{BB962C8B-B14F-4D97-AF65-F5344CB8AC3E}">
        <p14:creationId xmlns:p14="http://schemas.microsoft.com/office/powerpoint/2010/main" val="2241567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5"/>
          </p:nvPr>
        </p:nvSpPr>
        <p:spPr/>
        <p:txBody>
          <a:bodyPr/>
          <a:lstStyle/>
          <a:p>
            <a:fld id="{1F9EEA32-B162-4217-BA33-E13FAC1537B1}" type="slidenum">
              <a:rPr lang="ro-RO" smtClean="0"/>
              <a:t>8</a:t>
            </a:fld>
            <a:endParaRPr lang="ro-RO"/>
          </a:p>
        </p:txBody>
      </p:sp>
    </p:spTree>
    <p:extLst>
      <p:ext uri="{BB962C8B-B14F-4D97-AF65-F5344CB8AC3E}">
        <p14:creationId xmlns:p14="http://schemas.microsoft.com/office/powerpoint/2010/main" val="2535842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zitiv titlu">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AAD7D327-7B9E-39BD-C2F7-95F438918837}"/>
              </a:ext>
            </a:extLst>
          </p:cNvPr>
          <p:cNvSpPr>
            <a:spLocks noGrp="1"/>
          </p:cNvSpPr>
          <p:nvPr>
            <p:ph type="ctrTitle"/>
          </p:nvPr>
        </p:nvSpPr>
        <p:spPr>
          <a:xfrm>
            <a:off x="1524000" y="1122363"/>
            <a:ext cx="9144000" cy="2387600"/>
          </a:xfrm>
        </p:spPr>
        <p:txBody>
          <a:bodyPr anchor="b"/>
          <a:lstStyle>
            <a:lvl1pPr algn="ctr">
              <a:defRPr sz="6000"/>
            </a:lvl1pPr>
          </a:lstStyle>
          <a:p>
            <a:r>
              <a:rPr lang="ro-RO"/>
              <a:t>Faceți clic pentru a edita stilul de titlu coordonator</a:t>
            </a:r>
          </a:p>
        </p:txBody>
      </p:sp>
      <p:sp>
        <p:nvSpPr>
          <p:cNvPr id="3" name="Subtitlu 2">
            <a:extLst>
              <a:ext uri="{FF2B5EF4-FFF2-40B4-BE49-F238E27FC236}">
                <a16:creationId xmlns:a16="http://schemas.microsoft.com/office/drawing/2014/main" id="{E5B1D182-F327-ACDD-E538-7669B2BC57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o-RO"/>
              <a:t>Faceți clic pentru a edita stilul de subtitlu coordonator</a:t>
            </a:r>
          </a:p>
        </p:txBody>
      </p:sp>
      <p:sp>
        <p:nvSpPr>
          <p:cNvPr id="4" name="Substituent dată 3">
            <a:extLst>
              <a:ext uri="{FF2B5EF4-FFF2-40B4-BE49-F238E27FC236}">
                <a16:creationId xmlns:a16="http://schemas.microsoft.com/office/drawing/2014/main" id="{56068E94-B6CF-6587-5E16-55B43D927B7B}"/>
              </a:ext>
            </a:extLst>
          </p:cNvPr>
          <p:cNvSpPr>
            <a:spLocks noGrp="1"/>
          </p:cNvSpPr>
          <p:nvPr>
            <p:ph type="dt" sz="half" idx="10"/>
          </p:nvPr>
        </p:nvSpPr>
        <p:spPr/>
        <p:txBody>
          <a:bodyPr/>
          <a:lstStyle/>
          <a:p>
            <a:fld id="{BFB615A1-527C-4A63-995D-ED2051B665FA}" type="datetimeFigureOut">
              <a:rPr lang="ro-RO" smtClean="0"/>
              <a:t>10.02.2026</a:t>
            </a:fld>
            <a:endParaRPr lang="ro-RO"/>
          </a:p>
        </p:txBody>
      </p:sp>
      <p:sp>
        <p:nvSpPr>
          <p:cNvPr id="5" name="Substituent subsol 4">
            <a:extLst>
              <a:ext uri="{FF2B5EF4-FFF2-40B4-BE49-F238E27FC236}">
                <a16:creationId xmlns:a16="http://schemas.microsoft.com/office/drawing/2014/main" id="{A70014BB-7BE0-9B87-D089-43FCA6831023}"/>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CFA7771D-2539-6444-1DB1-5CBA2AC6A2D4}"/>
              </a:ext>
            </a:extLst>
          </p:cNvPr>
          <p:cNvSpPr>
            <a:spLocks noGrp="1"/>
          </p:cNvSpPr>
          <p:nvPr>
            <p:ph type="sldNum" sz="quarter" idx="12"/>
          </p:nvPr>
        </p:nvSpPr>
        <p:spPr/>
        <p:txBody>
          <a:bodyPr/>
          <a:lstStyle/>
          <a:p>
            <a:fld id="{1D4452C4-B55A-449A-9652-F3C2BD2C00D2}" type="slidenum">
              <a:rPr lang="ro-RO" smtClean="0"/>
              <a:t>‹#›</a:t>
            </a:fld>
            <a:endParaRPr lang="ro-RO"/>
          </a:p>
        </p:txBody>
      </p:sp>
    </p:spTree>
    <p:extLst>
      <p:ext uri="{BB962C8B-B14F-4D97-AF65-F5344CB8AC3E}">
        <p14:creationId xmlns:p14="http://schemas.microsoft.com/office/powerpoint/2010/main" val="51287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B215493E-5013-9824-CC40-644518AAC1D2}"/>
              </a:ext>
            </a:extLst>
          </p:cNvPr>
          <p:cNvSpPr>
            <a:spLocks noGrp="1"/>
          </p:cNvSpPr>
          <p:nvPr>
            <p:ph type="title"/>
          </p:nvPr>
        </p:nvSpPr>
        <p:spPr/>
        <p:txBody>
          <a:bodyPr/>
          <a:lstStyle/>
          <a:p>
            <a:r>
              <a:rPr lang="ro-RO"/>
              <a:t>Faceți clic pentru a edita stilul de titlu coordonator</a:t>
            </a:r>
          </a:p>
        </p:txBody>
      </p:sp>
      <p:sp>
        <p:nvSpPr>
          <p:cNvPr id="3" name="Substituent conținut 2">
            <a:extLst>
              <a:ext uri="{FF2B5EF4-FFF2-40B4-BE49-F238E27FC236}">
                <a16:creationId xmlns:a16="http://schemas.microsoft.com/office/drawing/2014/main" id="{23920D18-CE81-F3CA-A6A9-E4F66A315A40}"/>
              </a:ext>
            </a:extLst>
          </p:cNvPr>
          <p:cNvSpPr>
            <a:spLocks noGrp="1"/>
          </p:cNvSpPr>
          <p:nvPr>
            <p:ph idx="1"/>
          </p:nvPr>
        </p:nvSpPr>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5DB0A821-8AED-3C82-7E3B-06BD5F6D3625}"/>
              </a:ext>
            </a:extLst>
          </p:cNvPr>
          <p:cNvSpPr>
            <a:spLocks noGrp="1"/>
          </p:cNvSpPr>
          <p:nvPr>
            <p:ph type="dt" sz="half" idx="10"/>
          </p:nvPr>
        </p:nvSpPr>
        <p:spPr/>
        <p:txBody>
          <a:bodyPr/>
          <a:lstStyle/>
          <a:p>
            <a:fld id="{BFB615A1-527C-4A63-995D-ED2051B665FA}" type="datetimeFigureOut">
              <a:rPr lang="ro-RO" smtClean="0"/>
              <a:t>10.02.2026</a:t>
            </a:fld>
            <a:endParaRPr lang="ro-RO"/>
          </a:p>
        </p:txBody>
      </p:sp>
      <p:sp>
        <p:nvSpPr>
          <p:cNvPr id="5" name="Substituent subsol 4">
            <a:extLst>
              <a:ext uri="{FF2B5EF4-FFF2-40B4-BE49-F238E27FC236}">
                <a16:creationId xmlns:a16="http://schemas.microsoft.com/office/drawing/2014/main" id="{EDDFBF75-56DF-C8C2-B2A9-6F23EB252DED}"/>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5EB90FE8-ACBF-96D2-20DA-0493C9CDF779}"/>
              </a:ext>
            </a:extLst>
          </p:cNvPr>
          <p:cNvSpPr>
            <a:spLocks noGrp="1"/>
          </p:cNvSpPr>
          <p:nvPr>
            <p:ph type="sldNum" sz="quarter" idx="12"/>
          </p:nvPr>
        </p:nvSpPr>
        <p:spPr/>
        <p:txBody>
          <a:bodyPr/>
          <a:lstStyle/>
          <a:p>
            <a:fld id="{1D4452C4-B55A-449A-9652-F3C2BD2C00D2}" type="slidenum">
              <a:rPr lang="ro-RO" smtClean="0"/>
              <a:t>‹#›</a:t>
            </a:fld>
            <a:endParaRPr lang="ro-RO"/>
          </a:p>
        </p:txBody>
      </p:sp>
    </p:spTree>
    <p:extLst>
      <p:ext uri="{BB962C8B-B14F-4D97-AF65-F5344CB8AC3E}">
        <p14:creationId xmlns:p14="http://schemas.microsoft.com/office/powerpoint/2010/main" val="3422450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ntet secțiune">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05500D88-8887-D359-020C-58D57BB1F17E}"/>
              </a:ext>
            </a:extLst>
          </p:cNvPr>
          <p:cNvSpPr>
            <a:spLocks noGrp="1"/>
          </p:cNvSpPr>
          <p:nvPr>
            <p:ph type="title"/>
          </p:nvPr>
        </p:nvSpPr>
        <p:spPr>
          <a:xfrm>
            <a:off x="831850" y="1709738"/>
            <a:ext cx="10515600" cy="2852737"/>
          </a:xfrm>
        </p:spPr>
        <p:txBody>
          <a:bodyPr anchor="b"/>
          <a:lstStyle>
            <a:lvl1pPr>
              <a:defRPr sz="6000"/>
            </a:lvl1pPr>
          </a:lstStyle>
          <a:p>
            <a:r>
              <a:rPr lang="ro-RO"/>
              <a:t>Faceți clic pentru a edita stilul de titlu coordonator</a:t>
            </a:r>
          </a:p>
        </p:txBody>
      </p:sp>
      <p:sp>
        <p:nvSpPr>
          <p:cNvPr id="3" name="Substituent text 2">
            <a:extLst>
              <a:ext uri="{FF2B5EF4-FFF2-40B4-BE49-F238E27FC236}">
                <a16:creationId xmlns:a16="http://schemas.microsoft.com/office/drawing/2014/main" id="{2BBD6DCE-9C81-8109-5AA6-56C0689F58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o-RO"/>
              <a:t>Faceţi clic pentru a edita Master stiluri text</a:t>
            </a:r>
          </a:p>
        </p:txBody>
      </p:sp>
      <p:sp>
        <p:nvSpPr>
          <p:cNvPr id="4" name="Substituent dată 3">
            <a:extLst>
              <a:ext uri="{FF2B5EF4-FFF2-40B4-BE49-F238E27FC236}">
                <a16:creationId xmlns:a16="http://schemas.microsoft.com/office/drawing/2014/main" id="{0875879D-F1C0-5C05-CA8F-50769E4146D3}"/>
              </a:ext>
            </a:extLst>
          </p:cNvPr>
          <p:cNvSpPr>
            <a:spLocks noGrp="1"/>
          </p:cNvSpPr>
          <p:nvPr>
            <p:ph type="dt" sz="half" idx="10"/>
          </p:nvPr>
        </p:nvSpPr>
        <p:spPr/>
        <p:txBody>
          <a:bodyPr/>
          <a:lstStyle/>
          <a:p>
            <a:fld id="{BFB615A1-527C-4A63-995D-ED2051B665FA}" type="datetimeFigureOut">
              <a:rPr lang="ro-RO" smtClean="0"/>
              <a:t>10.02.2026</a:t>
            </a:fld>
            <a:endParaRPr lang="ro-RO"/>
          </a:p>
        </p:txBody>
      </p:sp>
      <p:sp>
        <p:nvSpPr>
          <p:cNvPr id="5" name="Substituent subsol 4">
            <a:extLst>
              <a:ext uri="{FF2B5EF4-FFF2-40B4-BE49-F238E27FC236}">
                <a16:creationId xmlns:a16="http://schemas.microsoft.com/office/drawing/2014/main" id="{5C0632F5-182A-7C90-B136-643894D4B6B1}"/>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2013BFF5-074B-A0DC-8545-612F3D5C1106}"/>
              </a:ext>
            </a:extLst>
          </p:cNvPr>
          <p:cNvSpPr>
            <a:spLocks noGrp="1"/>
          </p:cNvSpPr>
          <p:nvPr>
            <p:ph type="sldNum" sz="quarter" idx="12"/>
          </p:nvPr>
        </p:nvSpPr>
        <p:spPr/>
        <p:txBody>
          <a:bodyPr/>
          <a:lstStyle/>
          <a:p>
            <a:fld id="{1D4452C4-B55A-449A-9652-F3C2BD2C00D2}" type="slidenum">
              <a:rPr lang="ro-RO" smtClean="0"/>
              <a:t>‹#›</a:t>
            </a:fld>
            <a:endParaRPr lang="ro-RO"/>
          </a:p>
        </p:txBody>
      </p:sp>
    </p:spTree>
    <p:extLst>
      <p:ext uri="{BB962C8B-B14F-4D97-AF65-F5344CB8AC3E}">
        <p14:creationId xmlns:p14="http://schemas.microsoft.com/office/powerpoint/2010/main" val="1865131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9BC13C9E-27DA-9CA8-4C55-01E6DA9BC43F}"/>
              </a:ext>
            </a:extLst>
          </p:cNvPr>
          <p:cNvSpPr>
            <a:spLocks noGrp="1"/>
          </p:cNvSpPr>
          <p:nvPr>
            <p:ph type="title"/>
          </p:nvPr>
        </p:nvSpPr>
        <p:spPr/>
        <p:txBody>
          <a:bodyPr/>
          <a:lstStyle/>
          <a:p>
            <a:r>
              <a:rPr lang="ro-RO"/>
              <a:t>Faceți clic pentru a edita stilul de titlu coordonator</a:t>
            </a:r>
          </a:p>
        </p:txBody>
      </p:sp>
      <p:sp>
        <p:nvSpPr>
          <p:cNvPr id="3" name="Substituent conținut 2">
            <a:extLst>
              <a:ext uri="{FF2B5EF4-FFF2-40B4-BE49-F238E27FC236}">
                <a16:creationId xmlns:a16="http://schemas.microsoft.com/office/drawing/2014/main" id="{66067328-201B-2590-9B44-F4881AEE4A01}"/>
              </a:ext>
            </a:extLst>
          </p:cNvPr>
          <p:cNvSpPr>
            <a:spLocks noGrp="1"/>
          </p:cNvSpPr>
          <p:nvPr>
            <p:ph sz="half" idx="1"/>
          </p:nvPr>
        </p:nvSpPr>
        <p:spPr>
          <a:xfrm>
            <a:off x="838200" y="1825625"/>
            <a:ext cx="5181600" cy="435133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conținut 3">
            <a:extLst>
              <a:ext uri="{FF2B5EF4-FFF2-40B4-BE49-F238E27FC236}">
                <a16:creationId xmlns:a16="http://schemas.microsoft.com/office/drawing/2014/main" id="{1713AE2F-E1B9-D2C0-6303-C400EA37C641}"/>
              </a:ext>
            </a:extLst>
          </p:cNvPr>
          <p:cNvSpPr>
            <a:spLocks noGrp="1"/>
          </p:cNvSpPr>
          <p:nvPr>
            <p:ph sz="half" idx="2"/>
          </p:nvPr>
        </p:nvSpPr>
        <p:spPr>
          <a:xfrm>
            <a:off x="6172200" y="1825625"/>
            <a:ext cx="5181600" cy="435133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5" name="Substituent dată 4">
            <a:extLst>
              <a:ext uri="{FF2B5EF4-FFF2-40B4-BE49-F238E27FC236}">
                <a16:creationId xmlns:a16="http://schemas.microsoft.com/office/drawing/2014/main" id="{4671EFD7-57C4-1E52-995E-7D6424D59453}"/>
              </a:ext>
            </a:extLst>
          </p:cNvPr>
          <p:cNvSpPr>
            <a:spLocks noGrp="1"/>
          </p:cNvSpPr>
          <p:nvPr>
            <p:ph type="dt" sz="half" idx="10"/>
          </p:nvPr>
        </p:nvSpPr>
        <p:spPr/>
        <p:txBody>
          <a:bodyPr/>
          <a:lstStyle/>
          <a:p>
            <a:fld id="{BFB615A1-527C-4A63-995D-ED2051B665FA}" type="datetimeFigureOut">
              <a:rPr lang="ro-RO" smtClean="0"/>
              <a:t>10.02.2026</a:t>
            </a:fld>
            <a:endParaRPr lang="ro-RO"/>
          </a:p>
        </p:txBody>
      </p:sp>
      <p:sp>
        <p:nvSpPr>
          <p:cNvPr id="6" name="Substituent subsol 5">
            <a:extLst>
              <a:ext uri="{FF2B5EF4-FFF2-40B4-BE49-F238E27FC236}">
                <a16:creationId xmlns:a16="http://schemas.microsoft.com/office/drawing/2014/main" id="{784DF2CB-C956-D03B-01B0-D99A8EA49F34}"/>
              </a:ext>
            </a:extLst>
          </p:cNvPr>
          <p:cNvSpPr>
            <a:spLocks noGrp="1"/>
          </p:cNvSpPr>
          <p:nvPr>
            <p:ph type="ftr" sz="quarter" idx="11"/>
          </p:nvPr>
        </p:nvSpPr>
        <p:spPr/>
        <p:txBody>
          <a:bodyPr/>
          <a:lstStyle/>
          <a:p>
            <a:endParaRPr lang="ro-RO"/>
          </a:p>
        </p:txBody>
      </p:sp>
      <p:sp>
        <p:nvSpPr>
          <p:cNvPr id="7" name="Substituent număr diapozitiv 6">
            <a:extLst>
              <a:ext uri="{FF2B5EF4-FFF2-40B4-BE49-F238E27FC236}">
                <a16:creationId xmlns:a16="http://schemas.microsoft.com/office/drawing/2014/main" id="{EA97331A-8C30-B5F3-22BD-AD940005CB25}"/>
              </a:ext>
            </a:extLst>
          </p:cNvPr>
          <p:cNvSpPr>
            <a:spLocks noGrp="1"/>
          </p:cNvSpPr>
          <p:nvPr>
            <p:ph type="sldNum" sz="quarter" idx="12"/>
          </p:nvPr>
        </p:nvSpPr>
        <p:spPr/>
        <p:txBody>
          <a:bodyPr/>
          <a:lstStyle/>
          <a:p>
            <a:fld id="{1D4452C4-B55A-449A-9652-F3C2BD2C00D2}" type="slidenum">
              <a:rPr lang="ro-RO" smtClean="0"/>
              <a:t>‹#›</a:t>
            </a:fld>
            <a:endParaRPr lang="ro-RO"/>
          </a:p>
        </p:txBody>
      </p:sp>
    </p:spTree>
    <p:extLst>
      <p:ext uri="{BB962C8B-B14F-4D97-AF65-F5344CB8AC3E}">
        <p14:creationId xmlns:p14="http://schemas.microsoft.com/office/powerpoint/2010/main" val="1328319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ție">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8AAA3702-92CA-3783-D5F8-DACDA985606C}"/>
              </a:ext>
            </a:extLst>
          </p:cNvPr>
          <p:cNvSpPr>
            <a:spLocks noGrp="1"/>
          </p:cNvSpPr>
          <p:nvPr>
            <p:ph type="title"/>
          </p:nvPr>
        </p:nvSpPr>
        <p:spPr>
          <a:xfrm>
            <a:off x="839788" y="365125"/>
            <a:ext cx="10515600" cy="1325563"/>
          </a:xfrm>
        </p:spPr>
        <p:txBody>
          <a:bodyPr/>
          <a:lstStyle/>
          <a:p>
            <a:r>
              <a:rPr lang="ro-RO"/>
              <a:t>Faceți clic pentru a edita stilul de titlu coordonator</a:t>
            </a:r>
          </a:p>
        </p:txBody>
      </p:sp>
      <p:sp>
        <p:nvSpPr>
          <p:cNvPr id="3" name="Substituent text 2">
            <a:extLst>
              <a:ext uri="{FF2B5EF4-FFF2-40B4-BE49-F238E27FC236}">
                <a16:creationId xmlns:a16="http://schemas.microsoft.com/office/drawing/2014/main" id="{BF6A82B6-3843-83B0-B302-81D045E818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4" name="Substituent conținut 3">
            <a:extLst>
              <a:ext uri="{FF2B5EF4-FFF2-40B4-BE49-F238E27FC236}">
                <a16:creationId xmlns:a16="http://schemas.microsoft.com/office/drawing/2014/main" id="{0001F664-49C6-119B-51F8-53B900B752A9}"/>
              </a:ext>
            </a:extLst>
          </p:cNvPr>
          <p:cNvSpPr>
            <a:spLocks noGrp="1"/>
          </p:cNvSpPr>
          <p:nvPr>
            <p:ph sz="half" idx="2"/>
          </p:nvPr>
        </p:nvSpPr>
        <p:spPr>
          <a:xfrm>
            <a:off x="839788" y="2505075"/>
            <a:ext cx="5157787" cy="368458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5" name="Substituent text 4">
            <a:extLst>
              <a:ext uri="{FF2B5EF4-FFF2-40B4-BE49-F238E27FC236}">
                <a16:creationId xmlns:a16="http://schemas.microsoft.com/office/drawing/2014/main" id="{82DE992C-C3C6-5BE9-7AE0-B2DBAD4B98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6" name="Substituent conținut 5">
            <a:extLst>
              <a:ext uri="{FF2B5EF4-FFF2-40B4-BE49-F238E27FC236}">
                <a16:creationId xmlns:a16="http://schemas.microsoft.com/office/drawing/2014/main" id="{B2AD5A37-0B3A-408D-D388-3928AE5232B2}"/>
              </a:ext>
            </a:extLst>
          </p:cNvPr>
          <p:cNvSpPr>
            <a:spLocks noGrp="1"/>
          </p:cNvSpPr>
          <p:nvPr>
            <p:ph sz="quarter" idx="4"/>
          </p:nvPr>
        </p:nvSpPr>
        <p:spPr>
          <a:xfrm>
            <a:off x="6172200" y="2505075"/>
            <a:ext cx="5183188" cy="368458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7" name="Substituent dată 6">
            <a:extLst>
              <a:ext uri="{FF2B5EF4-FFF2-40B4-BE49-F238E27FC236}">
                <a16:creationId xmlns:a16="http://schemas.microsoft.com/office/drawing/2014/main" id="{F010912B-92DF-F282-8D36-9F55AF08224B}"/>
              </a:ext>
            </a:extLst>
          </p:cNvPr>
          <p:cNvSpPr>
            <a:spLocks noGrp="1"/>
          </p:cNvSpPr>
          <p:nvPr>
            <p:ph type="dt" sz="half" idx="10"/>
          </p:nvPr>
        </p:nvSpPr>
        <p:spPr/>
        <p:txBody>
          <a:bodyPr/>
          <a:lstStyle/>
          <a:p>
            <a:fld id="{BFB615A1-527C-4A63-995D-ED2051B665FA}" type="datetimeFigureOut">
              <a:rPr lang="ro-RO" smtClean="0"/>
              <a:t>10.02.2026</a:t>
            </a:fld>
            <a:endParaRPr lang="ro-RO"/>
          </a:p>
        </p:txBody>
      </p:sp>
      <p:sp>
        <p:nvSpPr>
          <p:cNvPr id="8" name="Substituent subsol 7">
            <a:extLst>
              <a:ext uri="{FF2B5EF4-FFF2-40B4-BE49-F238E27FC236}">
                <a16:creationId xmlns:a16="http://schemas.microsoft.com/office/drawing/2014/main" id="{24078E31-9D5C-EE53-8662-03C43EF3EC66}"/>
              </a:ext>
            </a:extLst>
          </p:cNvPr>
          <p:cNvSpPr>
            <a:spLocks noGrp="1"/>
          </p:cNvSpPr>
          <p:nvPr>
            <p:ph type="ftr" sz="quarter" idx="11"/>
          </p:nvPr>
        </p:nvSpPr>
        <p:spPr/>
        <p:txBody>
          <a:bodyPr/>
          <a:lstStyle/>
          <a:p>
            <a:endParaRPr lang="ro-RO"/>
          </a:p>
        </p:txBody>
      </p:sp>
      <p:sp>
        <p:nvSpPr>
          <p:cNvPr id="9" name="Substituent număr diapozitiv 8">
            <a:extLst>
              <a:ext uri="{FF2B5EF4-FFF2-40B4-BE49-F238E27FC236}">
                <a16:creationId xmlns:a16="http://schemas.microsoft.com/office/drawing/2014/main" id="{4FEDB413-C632-5EBB-7D25-B7BBB47F5EFB}"/>
              </a:ext>
            </a:extLst>
          </p:cNvPr>
          <p:cNvSpPr>
            <a:spLocks noGrp="1"/>
          </p:cNvSpPr>
          <p:nvPr>
            <p:ph type="sldNum" sz="quarter" idx="12"/>
          </p:nvPr>
        </p:nvSpPr>
        <p:spPr/>
        <p:txBody>
          <a:bodyPr/>
          <a:lstStyle/>
          <a:p>
            <a:fld id="{1D4452C4-B55A-449A-9652-F3C2BD2C00D2}" type="slidenum">
              <a:rPr lang="ro-RO" smtClean="0"/>
              <a:t>‹#›</a:t>
            </a:fld>
            <a:endParaRPr lang="ro-RO"/>
          </a:p>
        </p:txBody>
      </p:sp>
    </p:spTree>
    <p:extLst>
      <p:ext uri="{BB962C8B-B14F-4D97-AF65-F5344CB8AC3E}">
        <p14:creationId xmlns:p14="http://schemas.microsoft.com/office/powerpoint/2010/main" val="4128492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Doar titlu">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C9B4EDD4-1444-35D6-0D7A-60E2CAAB3FBE}"/>
              </a:ext>
            </a:extLst>
          </p:cNvPr>
          <p:cNvSpPr>
            <a:spLocks noGrp="1"/>
          </p:cNvSpPr>
          <p:nvPr>
            <p:ph type="title"/>
          </p:nvPr>
        </p:nvSpPr>
        <p:spPr/>
        <p:txBody>
          <a:bodyPr/>
          <a:lstStyle/>
          <a:p>
            <a:r>
              <a:rPr lang="ro-RO"/>
              <a:t>Faceți clic pentru a edita stilul de titlu coordonator</a:t>
            </a:r>
          </a:p>
        </p:txBody>
      </p:sp>
      <p:sp>
        <p:nvSpPr>
          <p:cNvPr id="3" name="Substituent dată 2">
            <a:extLst>
              <a:ext uri="{FF2B5EF4-FFF2-40B4-BE49-F238E27FC236}">
                <a16:creationId xmlns:a16="http://schemas.microsoft.com/office/drawing/2014/main" id="{19B0FAA4-DDC2-0A72-20B8-CDBF9FF6F80F}"/>
              </a:ext>
            </a:extLst>
          </p:cNvPr>
          <p:cNvSpPr>
            <a:spLocks noGrp="1"/>
          </p:cNvSpPr>
          <p:nvPr>
            <p:ph type="dt" sz="half" idx="10"/>
          </p:nvPr>
        </p:nvSpPr>
        <p:spPr/>
        <p:txBody>
          <a:bodyPr/>
          <a:lstStyle/>
          <a:p>
            <a:fld id="{BFB615A1-527C-4A63-995D-ED2051B665FA}" type="datetimeFigureOut">
              <a:rPr lang="ro-RO" smtClean="0"/>
              <a:t>10.02.2026</a:t>
            </a:fld>
            <a:endParaRPr lang="ro-RO"/>
          </a:p>
        </p:txBody>
      </p:sp>
      <p:sp>
        <p:nvSpPr>
          <p:cNvPr id="4" name="Substituent subsol 3">
            <a:extLst>
              <a:ext uri="{FF2B5EF4-FFF2-40B4-BE49-F238E27FC236}">
                <a16:creationId xmlns:a16="http://schemas.microsoft.com/office/drawing/2014/main" id="{A65A0B85-E318-1D4F-F614-3801B51AA14A}"/>
              </a:ext>
            </a:extLst>
          </p:cNvPr>
          <p:cNvSpPr>
            <a:spLocks noGrp="1"/>
          </p:cNvSpPr>
          <p:nvPr>
            <p:ph type="ftr" sz="quarter" idx="11"/>
          </p:nvPr>
        </p:nvSpPr>
        <p:spPr/>
        <p:txBody>
          <a:bodyPr/>
          <a:lstStyle/>
          <a:p>
            <a:endParaRPr lang="ro-RO"/>
          </a:p>
        </p:txBody>
      </p:sp>
      <p:sp>
        <p:nvSpPr>
          <p:cNvPr id="5" name="Substituent număr diapozitiv 4">
            <a:extLst>
              <a:ext uri="{FF2B5EF4-FFF2-40B4-BE49-F238E27FC236}">
                <a16:creationId xmlns:a16="http://schemas.microsoft.com/office/drawing/2014/main" id="{31A838AA-052F-FCB0-DFC2-77EAB82B089B}"/>
              </a:ext>
            </a:extLst>
          </p:cNvPr>
          <p:cNvSpPr>
            <a:spLocks noGrp="1"/>
          </p:cNvSpPr>
          <p:nvPr>
            <p:ph type="sldNum" sz="quarter" idx="12"/>
          </p:nvPr>
        </p:nvSpPr>
        <p:spPr/>
        <p:txBody>
          <a:bodyPr/>
          <a:lstStyle/>
          <a:p>
            <a:fld id="{1D4452C4-B55A-449A-9652-F3C2BD2C00D2}" type="slidenum">
              <a:rPr lang="ro-RO" smtClean="0"/>
              <a:t>‹#›</a:t>
            </a:fld>
            <a:endParaRPr lang="ro-RO"/>
          </a:p>
        </p:txBody>
      </p:sp>
    </p:spTree>
    <p:extLst>
      <p:ext uri="{BB962C8B-B14F-4D97-AF65-F5344CB8AC3E}">
        <p14:creationId xmlns:p14="http://schemas.microsoft.com/office/powerpoint/2010/main" val="2973250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Necompletat">
    <p:spTree>
      <p:nvGrpSpPr>
        <p:cNvPr id="1" name=""/>
        <p:cNvGrpSpPr/>
        <p:nvPr/>
      </p:nvGrpSpPr>
      <p:grpSpPr>
        <a:xfrm>
          <a:off x="0" y="0"/>
          <a:ext cx="0" cy="0"/>
          <a:chOff x="0" y="0"/>
          <a:chExt cx="0" cy="0"/>
        </a:xfrm>
      </p:grpSpPr>
      <p:sp>
        <p:nvSpPr>
          <p:cNvPr id="2" name="Substituent dată 1">
            <a:extLst>
              <a:ext uri="{FF2B5EF4-FFF2-40B4-BE49-F238E27FC236}">
                <a16:creationId xmlns:a16="http://schemas.microsoft.com/office/drawing/2014/main" id="{57ECD8F3-2CC7-9D9B-6203-9E5F26B7D2AA}"/>
              </a:ext>
            </a:extLst>
          </p:cNvPr>
          <p:cNvSpPr>
            <a:spLocks noGrp="1"/>
          </p:cNvSpPr>
          <p:nvPr>
            <p:ph type="dt" sz="half" idx="10"/>
          </p:nvPr>
        </p:nvSpPr>
        <p:spPr/>
        <p:txBody>
          <a:bodyPr/>
          <a:lstStyle/>
          <a:p>
            <a:fld id="{BFB615A1-527C-4A63-995D-ED2051B665FA}" type="datetimeFigureOut">
              <a:rPr lang="ro-RO" smtClean="0"/>
              <a:t>10.02.2026</a:t>
            </a:fld>
            <a:endParaRPr lang="ro-RO"/>
          </a:p>
        </p:txBody>
      </p:sp>
      <p:sp>
        <p:nvSpPr>
          <p:cNvPr id="3" name="Substituent subsol 2">
            <a:extLst>
              <a:ext uri="{FF2B5EF4-FFF2-40B4-BE49-F238E27FC236}">
                <a16:creationId xmlns:a16="http://schemas.microsoft.com/office/drawing/2014/main" id="{ABF9B126-43DA-A39F-BD01-E998151D30F9}"/>
              </a:ext>
            </a:extLst>
          </p:cNvPr>
          <p:cNvSpPr>
            <a:spLocks noGrp="1"/>
          </p:cNvSpPr>
          <p:nvPr>
            <p:ph type="ftr" sz="quarter" idx="11"/>
          </p:nvPr>
        </p:nvSpPr>
        <p:spPr/>
        <p:txBody>
          <a:bodyPr/>
          <a:lstStyle/>
          <a:p>
            <a:endParaRPr lang="ro-RO"/>
          </a:p>
        </p:txBody>
      </p:sp>
      <p:sp>
        <p:nvSpPr>
          <p:cNvPr id="4" name="Substituent număr diapozitiv 3">
            <a:extLst>
              <a:ext uri="{FF2B5EF4-FFF2-40B4-BE49-F238E27FC236}">
                <a16:creationId xmlns:a16="http://schemas.microsoft.com/office/drawing/2014/main" id="{8EDBA615-84FF-C14F-7200-B1A2D008623F}"/>
              </a:ext>
            </a:extLst>
          </p:cNvPr>
          <p:cNvSpPr>
            <a:spLocks noGrp="1"/>
          </p:cNvSpPr>
          <p:nvPr>
            <p:ph type="sldNum" sz="quarter" idx="12"/>
          </p:nvPr>
        </p:nvSpPr>
        <p:spPr/>
        <p:txBody>
          <a:bodyPr/>
          <a:lstStyle/>
          <a:p>
            <a:fld id="{1D4452C4-B55A-449A-9652-F3C2BD2C00D2}" type="slidenum">
              <a:rPr lang="ro-RO" smtClean="0"/>
              <a:t>‹#›</a:t>
            </a:fld>
            <a:endParaRPr lang="ro-RO"/>
          </a:p>
        </p:txBody>
      </p:sp>
    </p:spTree>
    <p:extLst>
      <p:ext uri="{BB962C8B-B14F-4D97-AF65-F5344CB8AC3E}">
        <p14:creationId xmlns:p14="http://schemas.microsoft.com/office/powerpoint/2010/main" val="8675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D42E0267-9A2F-5A1E-8FF9-94BDCBFA709A}"/>
              </a:ext>
            </a:extLst>
          </p:cNvPr>
          <p:cNvSpPr>
            <a:spLocks noGrp="1"/>
          </p:cNvSpPr>
          <p:nvPr>
            <p:ph type="title"/>
          </p:nvPr>
        </p:nvSpPr>
        <p:spPr>
          <a:xfrm>
            <a:off x="839788" y="457200"/>
            <a:ext cx="3932237" cy="1600200"/>
          </a:xfrm>
        </p:spPr>
        <p:txBody>
          <a:bodyPr anchor="b"/>
          <a:lstStyle>
            <a:lvl1pPr>
              <a:defRPr sz="3200"/>
            </a:lvl1pPr>
          </a:lstStyle>
          <a:p>
            <a:r>
              <a:rPr lang="ro-RO"/>
              <a:t>Faceți clic pentru a edita stilul de titlu coordonator</a:t>
            </a:r>
          </a:p>
        </p:txBody>
      </p:sp>
      <p:sp>
        <p:nvSpPr>
          <p:cNvPr id="3" name="Substituent conținut 2">
            <a:extLst>
              <a:ext uri="{FF2B5EF4-FFF2-40B4-BE49-F238E27FC236}">
                <a16:creationId xmlns:a16="http://schemas.microsoft.com/office/drawing/2014/main" id="{6474E9DE-DE10-3ABB-8250-5B7863037D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text 3">
            <a:extLst>
              <a:ext uri="{FF2B5EF4-FFF2-40B4-BE49-F238E27FC236}">
                <a16:creationId xmlns:a16="http://schemas.microsoft.com/office/drawing/2014/main" id="{DCA5D748-1544-809A-0FA1-B7A9BD78E3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Substituent dată 4">
            <a:extLst>
              <a:ext uri="{FF2B5EF4-FFF2-40B4-BE49-F238E27FC236}">
                <a16:creationId xmlns:a16="http://schemas.microsoft.com/office/drawing/2014/main" id="{42F21EF9-880D-33E0-614D-FB849EF969A6}"/>
              </a:ext>
            </a:extLst>
          </p:cNvPr>
          <p:cNvSpPr>
            <a:spLocks noGrp="1"/>
          </p:cNvSpPr>
          <p:nvPr>
            <p:ph type="dt" sz="half" idx="10"/>
          </p:nvPr>
        </p:nvSpPr>
        <p:spPr/>
        <p:txBody>
          <a:bodyPr/>
          <a:lstStyle/>
          <a:p>
            <a:fld id="{BFB615A1-527C-4A63-995D-ED2051B665FA}" type="datetimeFigureOut">
              <a:rPr lang="ro-RO" smtClean="0"/>
              <a:t>10.02.2026</a:t>
            </a:fld>
            <a:endParaRPr lang="ro-RO"/>
          </a:p>
        </p:txBody>
      </p:sp>
      <p:sp>
        <p:nvSpPr>
          <p:cNvPr id="6" name="Substituent subsol 5">
            <a:extLst>
              <a:ext uri="{FF2B5EF4-FFF2-40B4-BE49-F238E27FC236}">
                <a16:creationId xmlns:a16="http://schemas.microsoft.com/office/drawing/2014/main" id="{E81724E1-5741-E53C-3454-704D55983DA1}"/>
              </a:ext>
            </a:extLst>
          </p:cNvPr>
          <p:cNvSpPr>
            <a:spLocks noGrp="1"/>
          </p:cNvSpPr>
          <p:nvPr>
            <p:ph type="ftr" sz="quarter" idx="11"/>
          </p:nvPr>
        </p:nvSpPr>
        <p:spPr/>
        <p:txBody>
          <a:bodyPr/>
          <a:lstStyle/>
          <a:p>
            <a:endParaRPr lang="ro-RO"/>
          </a:p>
        </p:txBody>
      </p:sp>
      <p:sp>
        <p:nvSpPr>
          <p:cNvPr id="7" name="Substituent număr diapozitiv 6">
            <a:extLst>
              <a:ext uri="{FF2B5EF4-FFF2-40B4-BE49-F238E27FC236}">
                <a16:creationId xmlns:a16="http://schemas.microsoft.com/office/drawing/2014/main" id="{7D21199B-B493-5E1B-188B-EBCEABDACABC}"/>
              </a:ext>
            </a:extLst>
          </p:cNvPr>
          <p:cNvSpPr>
            <a:spLocks noGrp="1"/>
          </p:cNvSpPr>
          <p:nvPr>
            <p:ph type="sldNum" sz="quarter" idx="12"/>
          </p:nvPr>
        </p:nvSpPr>
        <p:spPr/>
        <p:txBody>
          <a:bodyPr/>
          <a:lstStyle/>
          <a:p>
            <a:fld id="{1D4452C4-B55A-449A-9652-F3C2BD2C00D2}" type="slidenum">
              <a:rPr lang="ro-RO" smtClean="0"/>
              <a:t>‹#›</a:t>
            </a:fld>
            <a:endParaRPr lang="ro-RO"/>
          </a:p>
        </p:txBody>
      </p:sp>
    </p:spTree>
    <p:extLst>
      <p:ext uri="{BB962C8B-B14F-4D97-AF65-F5344CB8AC3E}">
        <p14:creationId xmlns:p14="http://schemas.microsoft.com/office/powerpoint/2010/main" val="3955170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256AC5FE-0517-ACB3-B743-5DCB1AE376E8}"/>
              </a:ext>
            </a:extLst>
          </p:cNvPr>
          <p:cNvSpPr>
            <a:spLocks noGrp="1"/>
          </p:cNvSpPr>
          <p:nvPr>
            <p:ph type="title"/>
          </p:nvPr>
        </p:nvSpPr>
        <p:spPr>
          <a:xfrm>
            <a:off x="839788" y="457200"/>
            <a:ext cx="3932237" cy="1600200"/>
          </a:xfrm>
        </p:spPr>
        <p:txBody>
          <a:bodyPr anchor="b"/>
          <a:lstStyle>
            <a:lvl1pPr>
              <a:defRPr sz="3200"/>
            </a:lvl1pPr>
          </a:lstStyle>
          <a:p>
            <a:r>
              <a:rPr lang="ro-RO"/>
              <a:t>Faceți clic pentru a edita stilul de titlu coordonator</a:t>
            </a:r>
          </a:p>
        </p:txBody>
      </p:sp>
      <p:sp>
        <p:nvSpPr>
          <p:cNvPr id="3" name="Substituent imagine 2">
            <a:extLst>
              <a:ext uri="{FF2B5EF4-FFF2-40B4-BE49-F238E27FC236}">
                <a16:creationId xmlns:a16="http://schemas.microsoft.com/office/drawing/2014/main" id="{B5B66642-84AE-2BCC-FEBD-7F73B930A7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o-RO"/>
          </a:p>
        </p:txBody>
      </p:sp>
      <p:sp>
        <p:nvSpPr>
          <p:cNvPr id="4" name="Substituent text 3">
            <a:extLst>
              <a:ext uri="{FF2B5EF4-FFF2-40B4-BE49-F238E27FC236}">
                <a16:creationId xmlns:a16="http://schemas.microsoft.com/office/drawing/2014/main" id="{6315FAFB-B47F-2CD3-3E86-30D6D343DB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Substituent dată 4">
            <a:extLst>
              <a:ext uri="{FF2B5EF4-FFF2-40B4-BE49-F238E27FC236}">
                <a16:creationId xmlns:a16="http://schemas.microsoft.com/office/drawing/2014/main" id="{0C410E95-CF03-A4EE-BA6F-FE758D5821B5}"/>
              </a:ext>
            </a:extLst>
          </p:cNvPr>
          <p:cNvSpPr>
            <a:spLocks noGrp="1"/>
          </p:cNvSpPr>
          <p:nvPr>
            <p:ph type="dt" sz="half" idx="10"/>
          </p:nvPr>
        </p:nvSpPr>
        <p:spPr/>
        <p:txBody>
          <a:bodyPr/>
          <a:lstStyle/>
          <a:p>
            <a:fld id="{BFB615A1-527C-4A63-995D-ED2051B665FA}" type="datetimeFigureOut">
              <a:rPr lang="ro-RO" smtClean="0"/>
              <a:t>10.02.2026</a:t>
            </a:fld>
            <a:endParaRPr lang="ro-RO"/>
          </a:p>
        </p:txBody>
      </p:sp>
      <p:sp>
        <p:nvSpPr>
          <p:cNvPr id="6" name="Substituent subsol 5">
            <a:extLst>
              <a:ext uri="{FF2B5EF4-FFF2-40B4-BE49-F238E27FC236}">
                <a16:creationId xmlns:a16="http://schemas.microsoft.com/office/drawing/2014/main" id="{CD96F565-A4CF-A261-4413-6A513F951DEF}"/>
              </a:ext>
            </a:extLst>
          </p:cNvPr>
          <p:cNvSpPr>
            <a:spLocks noGrp="1"/>
          </p:cNvSpPr>
          <p:nvPr>
            <p:ph type="ftr" sz="quarter" idx="11"/>
          </p:nvPr>
        </p:nvSpPr>
        <p:spPr/>
        <p:txBody>
          <a:bodyPr/>
          <a:lstStyle/>
          <a:p>
            <a:endParaRPr lang="ro-RO"/>
          </a:p>
        </p:txBody>
      </p:sp>
      <p:sp>
        <p:nvSpPr>
          <p:cNvPr id="7" name="Substituent număr diapozitiv 6">
            <a:extLst>
              <a:ext uri="{FF2B5EF4-FFF2-40B4-BE49-F238E27FC236}">
                <a16:creationId xmlns:a16="http://schemas.microsoft.com/office/drawing/2014/main" id="{174522D8-CF05-FC35-9C35-8B4EBF355ADF}"/>
              </a:ext>
            </a:extLst>
          </p:cNvPr>
          <p:cNvSpPr>
            <a:spLocks noGrp="1"/>
          </p:cNvSpPr>
          <p:nvPr>
            <p:ph type="sldNum" sz="quarter" idx="12"/>
          </p:nvPr>
        </p:nvSpPr>
        <p:spPr/>
        <p:txBody>
          <a:bodyPr/>
          <a:lstStyle/>
          <a:p>
            <a:fld id="{1D4452C4-B55A-449A-9652-F3C2BD2C00D2}" type="slidenum">
              <a:rPr lang="ro-RO" smtClean="0"/>
              <a:t>‹#›</a:t>
            </a:fld>
            <a:endParaRPr lang="ro-RO"/>
          </a:p>
        </p:txBody>
      </p:sp>
    </p:spTree>
    <p:extLst>
      <p:ext uri="{BB962C8B-B14F-4D97-AF65-F5344CB8AC3E}">
        <p14:creationId xmlns:p14="http://schemas.microsoft.com/office/powerpoint/2010/main" val="1589286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41A01809-C701-1695-25BD-90372E7BE8FA}"/>
              </a:ext>
            </a:extLst>
          </p:cNvPr>
          <p:cNvSpPr>
            <a:spLocks noGrp="1"/>
          </p:cNvSpPr>
          <p:nvPr>
            <p:ph type="title"/>
          </p:nvPr>
        </p:nvSpPr>
        <p:spPr/>
        <p:txBody>
          <a:bodyPr/>
          <a:lstStyle/>
          <a:p>
            <a:r>
              <a:rPr lang="ro-RO"/>
              <a:t>Faceți clic pentru a edita stilul de titlu coordonator</a:t>
            </a:r>
          </a:p>
        </p:txBody>
      </p:sp>
      <p:sp>
        <p:nvSpPr>
          <p:cNvPr id="3" name="Substituent text vertical 2">
            <a:extLst>
              <a:ext uri="{FF2B5EF4-FFF2-40B4-BE49-F238E27FC236}">
                <a16:creationId xmlns:a16="http://schemas.microsoft.com/office/drawing/2014/main" id="{778F4F98-FE9C-ABB1-53DA-605E92150D35}"/>
              </a:ext>
            </a:extLst>
          </p:cNvPr>
          <p:cNvSpPr>
            <a:spLocks noGrp="1"/>
          </p:cNvSpPr>
          <p:nvPr>
            <p:ph type="body" orient="vert" idx="1"/>
          </p:nvPr>
        </p:nvSpPr>
        <p:spPr/>
        <p:txBody>
          <a:bodyPr vert="eaVert"/>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A96CF46A-C1E2-CC68-CAD4-68AC5664FC30}"/>
              </a:ext>
            </a:extLst>
          </p:cNvPr>
          <p:cNvSpPr>
            <a:spLocks noGrp="1"/>
          </p:cNvSpPr>
          <p:nvPr>
            <p:ph type="dt" sz="half" idx="10"/>
          </p:nvPr>
        </p:nvSpPr>
        <p:spPr/>
        <p:txBody>
          <a:bodyPr/>
          <a:lstStyle/>
          <a:p>
            <a:fld id="{BFB615A1-527C-4A63-995D-ED2051B665FA}" type="datetimeFigureOut">
              <a:rPr lang="ro-RO" smtClean="0"/>
              <a:t>10.02.2026</a:t>
            </a:fld>
            <a:endParaRPr lang="ro-RO"/>
          </a:p>
        </p:txBody>
      </p:sp>
      <p:sp>
        <p:nvSpPr>
          <p:cNvPr id="5" name="Substituent subsol 4">
            <a:extLst>
              <a:ext uri="{FF2B5EF4-FFF2-40B4-BE49-F238E27FC236}">
                <a16:creationId xmlns:a16="http://schemas.microsoft.com/office/drawing/2014/main" id="{E4CCCA18-E3CA-56DE-4B79-DEC36F10F437}"/>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6320A5C9-D34E-50C8-CBE4-A943D49EB890}"/>
              </a:ext>
            </a:extLst>
          </p:cNvPr>
          <p:cNvSpPr>
            <a:spLocks noGrp="1"/>
          </p:cNvSpPr>
          <p:nvPr>
            <p:ph type="sldNum" sz="quarter" idx="12"/>
          </p:nvPr>
        </p:nvSpPr>
        <p:spPr/>
        <p:txBody>
          <a:bodyPr/>
          <a:lstStyle/>
          <a:p>
            <a:fld id="{1D4452C4-B55A-449A-9652-F3C2BD2C00D2}" type="slidenum">
              <a:rPr lang="ro-RO" smtClean="0"/>
              <a:t>‹#›</a:t>
            </a:fld>
            <a:endParaRPr lang="ro-RO"/>
          </a:p>
        </p:txBody>
      </p:sp>
    </p:spTree>
    <p:extLst>
      <p:ext uri="{BB962C8B-B14F-4D97-AF65-F5344CB8AC3E}">
        <p14:creationId xmlns:p14="http://schemas.microsoft.com/office/powerpoint/2010/main" val="3718843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a:extLst>
              <a:ext uri="{FF2B5EF4-FFF2-40B4-BE49-F238E27FC236}">
                <a16:creationId xmlns:a16="http://schemas.microsoft.com/office/drawing/2014/main" id="{44313DFA-C0C1-0EF8-B566-E4AAF0B5CF4F}"/>
              </a:ext>
            </a:extLst>
          </p:cNvPr>
          <p:cNvSpPr>
            <a:spLocks noGrp="1"/>
          </p:cNvSpPr>
          <p:nvPr>
            <p:ph type="title" orient="vert"/>
          </p:nvPr>
        </p:nvSpPr>
        <p:spPr>
          <a:xfrm>
            <a:off x="8724900" y="365125"/>
            <a:ext cx="2628900" cy="5811838"/>
          </a:xfrm>
        </p:spPr>
        <p:txBody>
          <a:bodyPr vert="eaVert"/>
          <a:lstStyle/>
          <a:p>
            <a:r>
              <a:rPr lang="ro-RO"/>
              <a:t>Faceți clic pentru a edita stilul de titlu coordonator</a:t>
            </a:r>
          </a:p>
        </p:txBody>
      </p:sp>
      <p:sp>
        <p:nvSpPr>
          <p:cNvPr id="3" name="Substituent text vertical 2">
            <a:extLst>
              <a:ext uri="{FF2B5EF4-FFF2-40B4-BE49-F238E27FC236}">
                <a16:creationId xmlns:a16="http://schemas.microsoft.com/office/drawing/2014/main" id="{3607C710-9B10-46DE-B888-FE6BDE0E70F0}"/>
              </a:ext>
            </a:extLst>
          </p:cNvPr>
          <p:cNvSpPr>
            <a:spLocks noGrp="1"/>
          </p:cNvSpPr>
          <p:nvPr>
            <p:ph type="body" orient="vert" idx="1"/>
          </p:nvPr>
        </p:nvSpPr>
        <p:spPr>
          <a:xfrm>
            <a:off x="838200" y="365125"/>
            <a:ext cx="7734300" cy="5811838"/>
          </a:xfrm>
        </p:spPr>
        <p:txBody>
          <a:bodyPr vert="eaVert"/>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5CF4D75C-E629-DF49-A2A4-4E6D845BA1E5}"/>
              </a:ext>
            </a:extLst>
          </p:cNvPr>
          <p:cNvSpPr>
            <a:spLocks noGrp="1"/>
          </p:cNvSpPr>
          <p:nvPr>
            <p:ph type="dt" sz="half" idx="10"/>
          </p:nvPr>
        </p:nvSpPr>
        <p:spPr/>
        <p:txBody>
          <a:bodyPr/>
          <a:lstStyle/>
          <a:p>
            <a:fld id="{BFB615A1-527C-4A63-995D-ED2051B665FA}" type="datetimeFigureOut">
              <a:rPr lang="ro-RO" smtClean="0"/>
              <a:t>10.02.2026</a:t>
            </a:fld>
            <a:endParaRPr lang="ro-RO"/>
          </a:p>
        </p:txBody>
      </p:sp>
      <p:sp>
        <p:nvSpPr>
          <p:cNvPr id="5" name="Substituent subsol 4">
            <a:extLst>
              <a:ext uri="{FF2B5EF4-FFF2-40B4-BE49-F238E27FC236}">
                <a16:creationId xmlns:a16="http://schemas.microsoft.com/office/drawing/2014/main" id="{80847B03-280F-0F05-7045-AC491DD0A0C9}"/>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30A64FA9-88B8-03A7-1AFC-2A8CC5A42D66}"/>
              </a:ext>
            </a:extLst>
          </p:cNvPr>
          <p:cNvSpPr>
            <a:spLocks noGrp="1"/>
          </p:cNvSpPr>
          <p:nvPr>
            <p:ph type="sldNum" sz="quarter" idx="12"/>
          </p:nvPr>
        </p:nvSpPr>
        <p:spPr/>
        <p:txBody>
          <a:bodyPr/>
          <a:lstStyle/>
          <a:p>
            <a:fld id="{1D4452C4-B55A-449A-9652-F3C2BD2C00D2}" type="slidenum">
              <a:rPr lang="ro-RO" smtClean="0"/>
              <a:t>‹#›</a:t>
            </a:fld>
            <a:endParaRPr lang="ro-RO"/>
          </a:p>
        </p:txBody>
      </p:sp>
    </p:spTree>
    <p:extLst>
      <p:ext uri="{BB962C8B-B14F-4D97-AF65-F5344CB8AC3E}">
        <p14:creationId xmlns:p14="http://schemas.microsoft.com/office/powerpoint/2010/main" val="1857408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titlu 1">
            <a:extLst>
              <a:ext uri="{FF2B5EF4-FFF2-40B4-BE49-F238E27FC236}">
                <a16:creationId xmlns:a16="http://schemas.microsoft.com/office/drawing/2014/main" id="{19C2777C-907A-EB69-7F6B-CD93BA6BCE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o-RO"/>
              <a:t>Faceți clic pentru a edita stilul de titlu coordonator</a:t>
            </a:r>
          </a:p>
        </p:txBody>
      </p:sp>
      <p:sp>
        <p:nvSpPr>
          <p:cNvPr id="3" name="Substituent text 2">
            <a:extLst>
              <a:ext uri="{FF2B5EF4-FFF2-40B4-BE49-F238E27FC236}">
                <a16:creationId xmlns:a16="http://schemas.microsoft.com/office/drawing/2014/main" id="{8018FF5E-3B17-B9D6-94DB-892BE0509C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FA3C1112-CF96-B736-4A82-C82926F3C1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B615A1-527C-4A63-995D-ED2051B665FA}" type="datetimeFigureOut">
              <a:rPr lang="ro-RO" smtClean="0"/>
              <a:t>10.02.2026</a:t>
            </a:fld>
            <a:endParaRPr lang="ro-RO"/>
          </a:p>
        </p:txBody>
      </p:sp>
      <p:sp>
        <p:nvSpPr>
          <p:cNvPr id="5" name="Substituent subsol 4">
            <a:extLst>
              <a:ext uri="{FF2B5EF4-FFF2-40B4-BE49-F238E27FC236}">
                <a16:creationId xmlns:a16="http://schemas.microsoft.com/office/drawing/2014/main" id="{327DB06F-2AB1-7844-0110-B4964300D4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o-RO"/>
          </a:p>
        </p:txBody>
      </p:sp>
      <p:sp>
        <p:nvSpPr>
          <p:cNvPr id="6" name="Substituent număr diapozitiv 5">
            <a:extLst>
              <a:ext uri="{FF2B5EF4-FFF2-40B4-BE49-F238E27FC236}">
                <a16:creationId xmlns:a16="http://schemas.microsoft.com/office/drawing/2014/main" id="{FCE8B0B0-6155-DDDE-4107-C0666CEA5D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4452C4-B55A-449A-9652-F3C2BD2C00D2}" type="slidenum">
              <a:rPr lang="ro-RO" smtClean="0"/>
              <a:t>‹#›</a:t>
            </a:fld>
            <a:endParaRPr lang="ro-RO"/>
          </a:p>
        </p:txBody>
      </p:sp>
    </p:spTree>
    <p:extLst>
      <p:ext uri="{BB962C8B-B14F-4D97-AF65-F5344CB8AC3E}">
        <p14:creationId xmlns:p14="http://schemas.microsoft.com/office/powerpoint/2010/main" val="33382428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4.gif"/><Relationship Id="rId4" Type="http://schemas.openxmlformats.org/officeDocument/2006/relationships/image" Target="../media/image3.gif"/></Relationships>
</file>

<file path=ppt/slides/_rels/slide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5.gif"/></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5.gif"/></Relationships>
</file>

<file path=ppt/slides/_rels/slide5.xml.rels><?xml version="1.0" encoding="UTF-8" standalone="yes"?>
<Relationships xmlns="http://schemas.openxmlformats.org/package/2006/relationships"><Relationship Id="rId8" Type="http://schemas.openxmlformats.org/officeDocument/2006/relationships/hyperlink" Target="https://github.com/cosminqx/ScienceQuest" TargetMode="External"/><Relationship Id="rId3" Type="http://schemas.openxmlformats.org/officeDocument/2006/relationships/image" Target="../media/image1.jpg"/><Relationship Id="rId7" Type="http://schemas.openxmlformats.org/officeDocument/2006/relationships/image" Target="../media/image5.gi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gif"/><Relationship Id="rId5" Type="http://schemas.openxmlformats.org/officeDocument/2006/relationships/image" Target="../media/image3.gif"/><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gif"/><Relationship Id="rId4" Type="http://schemas.openxmlformats.org/officeDocument/2006/relationships/hyperlink" Target="https://github.com/cosminqx/ScienceQuest"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hyperlink" Target="https://youtu.be/nTsHQOLqoOo" TargetMode="Externa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ine 4" descr="O imagine care conține cer, Color, copac, nor&#10;&#10;Conținutul generat de inteligența artificială poate fi incorect.">
            <a:extLst>
              <a:ext uri="{FF2B5EF4-FFF2-40B4-BE49-F238E27FC236}">
                <a16:creationId xmlns:a16="http://schemas.microsoft.com/office/drawing/2014/main" id="{3B4F54D5-CE40-25EC-7412-231CA1FC49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277725" cy="6885757"/>
          </a:xfrm>
          <a:prstGeom prst="rect">
            <a:avLst/>
          </a:prstGeom>
        </p:spPr>
      </p:pic>
      <p:sp>
        <p:nvSpPr>
          <p:cNvPr id="6" name="Dreptunghi 5">
            <a:extLst>
              <a:ext uri="{FF2B5EF4-FFF2-40B4-BE49-F238E27FC236}">
                <a16:creationId xmlns:a16="http://schemas.microsoft.com/office/drawing/2014/main" id="{EBF3A5B6-07FA-1395-1867-B7BFFD5C722F}"/>
              </a:ext>
            </a:extLst>
          </p:cNvPr>
          <p:cNvSpPr/>
          <p:nvPr/>
        </p:nvSpPr>
        <p:spPr>
          <a:xfrm>
            <a:off x="0" y="0"/>
            <a:ext cx="12277725" cy="6885757"/>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o-RO"/>
          </a:p>
        </p:txBody>
      </p:sp>
      <p:sp>
        <p:nvSpPr>
          <p:cNvPr id="7" name="CasetăText 6">
            <a:extLst>
              <a:ext uri="{FF2B5EF4-FFF2-40B4-BE49-F238E27FC236}">
                <a16:creationId xmlns:a16="http://schemas.microsoft.com/office/drawing/2014/main" id="{1038A7C3-B5CF-72B4-460D-46CFD311854F}"/>
              </a:ext>
            </a:extLst>
          </p:cNvPr>
          <p:cNvSpPr txBox="1"/>
          <p:nvPr/>
        </p:nvSpPr>
        <p:spPr>
          <a:xfrm>
            <a:off x="1056654" y="1685604"/>
            <a:ext cx="10164413" cy="2246769"/>
          </a:xfrm>
          <a:prstGeom prst="rect">
            <a:avLst/>
          </a:prstGeom>
          <a:noFill/>
        </p:spPr>
        <p:txBody>
          <a:bodyPr wrap="square" rtlCol="0">
            <a:spAutoFit/>
          </a:bodyPr>
          <a:lstStyle/>
          <a:p>
            <a:pPr algn="ctr"/>
            <a:r>
              <a:rPr lang="ro-RO" sz="14000" dirty="0" err="1">
                <a:solidFill>
                  <a:schemeClr val="bg1"/>
                </a:solidFill>
                <a:latin typeface="Bytebounce" panose="02000603000000000000" pitchFamily="2" charset="0"/>
                <a:ea typeface="Bytebounce" panose="02000603000000000000" pitchFamily="2" charset="0"/>
              </a:rPr>
              <a:t>Science</a:t>
            </a:r>
            <a:r>
              <a:rPr lang="ro-RO" sz="14000" dirty="0">
                <a:solidFill>
                  <a:schemeClr val="bg1"/>
                </a:solidFill>
                <a:latin typeface="Bytebounce" panose="02000603000000000000" pitchFamily="2" charset="0"/>
                <a:ea typeface="Bytebounce" panose="02000603000000000000" pitchFamily="2" charset="0"/>
              </a:rPr>
              <a:t> </a:t>
            </a:r>
            <a:r>
              <a:rPr lang="ro-RO" sz="14000" dirty="0" err="1">
                <a:solidFill>
                  <a:schemeClr val="bg1"/>
                </a:solidFill>
                <a:latin typeface="Bytebounce" panose="02000603000000000000" pitchFamily="2" charset="0"/>
                <a:ea typeface="Bytebounce" panose="02000603000000000000" pitchFamily="2" charset="0"/>
              </a:rPr>
              <a:t>Quest</a:t>
            </a:r>
            <a:endParaRPr lang="ro-RO" sz="14000" dirty="0">
              <a:solidFill>
                <a:schemeClr val="bg1"/>
              </a:solidFill>
              <a:latin typeface="Bytebounce" panose="02000603000000000000" pitchFamily="2" charset="0"/>
              <a:ea typeface="Bytebounce" panose="02000603000000000000" pitchFamily="2" charset="0"/>
            </a:endParaRPr>
          </a:p>
        </p:txBody>
      </p:sp>
      <p:pic>
        <p:nvPicPr>
          <p:cNvPr id="10" name="Imagine 9">
            <a:extLst>
              <a:ext uri="{FF2B5EF4-FFF2-40B4-BE49-F238E27FC236}">
                <a16:creationId xmlns:a16="http://schemas.microsoft.com/office/drawing/2014/main" id="{773B123C-DABE-7BA4-B654-271DE438BB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4449" y="2646818"/>
            <a:ext cx="3324226" cy="3324226"/>
          </a:xfrm>
          <a:prstGeom prst="rect">
            <a:avLst/>
          </a:prstGeom>
        </p:spPr>
      </p:pic>
      <p:pic>
        <p:nvPicPr>
          <p:cNvPr id="11" name="Imagine 10" descr="O imagine care conține simbol, proiectare&#10;&#10;Conținutul generat de inteligența artificială poate fi incorect.">
            <a:extLst>
              <a:ext uri="{FF2B5EF4-FFF2-40B4-BE49-F238E27FC236}">
                <a16:creationId xmlns:a16="http://schemas.microsoft.com/office/drawing/2014/main" id="{A7A68433-5A6F-D591-059C-D23C5E7C43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82500" y="1287006"/>
            <a:ext cx="2228850" cy="1714500"/>
          </a:xfrm>
          <a:prstGeom prst="rect">
            <a:avLst/>
          </a:prstGeom>
        </p:spPr>
      </p:pic>
      <p:sp>
        <p:nvSpPr>
          <p:cNvPr id="2" name="CasetăText 1">
            <a:extLst>
              <a:ext uri="{FF2B5EF4-FFF2-40B4-BE49-F238E27FC236}">
                <a16:creationId xmlns:a16="http://schemas.microsoft.com/office/drawing/2014/main" id="{F540481A-69AC-A88D-E7C7-ED136F3AA013}"/>
              </a:ext>
            </a:extLst>
          </p:cNvPr>
          <p:cNvSpPr txBox="1"/>
          <p:nvPr/>
        </p:nvSpPr>
        <p:spPr>
          <a:xfrm>
            <a:off x="7208196" y="3932373"/>
            <a:ext cx="3268494" cy="646331"/>
          </a:xfrm>
          <a:prstGeom prst="rect">
            <a:avLst/>
          </a:prstGeom>
          <a:noFill/>
        </p:spPr>
        <p:txBody>
          <a:bodyPr wrap="square" rtlCol="0">
            <a:spAutoFit/>
          </a:bodyPr>
          <a:lstStyle/>
          <a:p>
            <a:pPr algn="r"/>
            <a:r>
              <a:rPr lang="en-US" dirty="0">
                <a:solidFill>
                  <a:schemeClr val="bg1"/>
                </a:solidFill>
                <a:latin typeface="Aptos" panose="020B0004020202020204" pitchFamily="34" charset="0"/>
              </a:rPr>
              <a:t>Chi</a:t>
            </a:r>
            <a:r>
              <a:rPr lang="ro-RO" dirty="0" err="1">
                <a:solidFill>
                  <a:schemeClr val="bg1"/>
                </a:solidFill>
                <a:latin typeface="Aptos" panose="020B0004020202020204" pitchFamily="34" charset="0"/>
              </a:rPr>
              <a:t>șcăreanu</a:t>
            </a:r>
            <a:r>
              <a:rPr lang="ro-RO" dirty="0">
                <a:solidFill>
                  <a:schemeClr val="bg1"/>
                </a:solidFill>
                <a:latin typeface="Aptos" panose="020B0004020202020204" pitchFamily="34" charset="0"/>
              </a:rPr>
              <a:t> Silviu Constantin</a:t>
            </a:r>
          </a:p>
          <a:p>
            <a:pPr algn="r"/>
            <a:r>
              <a:rPr lang="ro-RO" dirty="0">
                <a:solidFill>
                  <a:schemeClr val="bg1"/>
                </a:solidFill>
                <a:latin typeface="Aptos" panose="020B0004020202020204" pitchFamily="34" charset="0"/>
              </a:rPr>
              <a:t>Lăcătuș Cosmin Sebastian</a:t>
            </a:r>
          </a:p>
        </p:txBody>
      </p:sp>
      <p:sp>
        <p:nvSpPr>
          <p:cNvPr id="9" name="CasetăText 8">
            <a:extLst>
              <a:ext uri="{FF2B5EF4-FFF2-40B4-BE49-F238E27FC236}">
                <a16:creationId xmlns:a16="http://schemas.microsoft.com/office/drawing/2014/main" id="{D481F90A-13AC-BC66-31A0-4D5AC5654623}"/>
              </a:ext>
            </a:extLst>
          </p:cNvPr>
          <p:cNvSpPr txBox="1"/>
          <p:nvPr/>
        </p:nvSpPr>
        <p:spPr>
          <a:xfrm>
            <a:off x="-8363964" y="2501212"/>
            <a:ext cx="8259188" cy="2862322"/>
          </a:xfrm>
          <a:prstGeom prst="rect">
            <a:avLst/>
          </a:prstGeom>
          <a:noFill/>
        </p:spPr>
        <p:txBody>
          <a:bodyPr wrap="square" rtlCol="0">
            <a:spAutoFit/>
          </a:bodyPr>
          <a:lstStyle/>
          <a:p>
            <a:pPr algn="just"/>
            <a:r>
              <a:rPr lang="ro-RO" sz="2000" dirty="0">
                <a:solidFill>
                  <a:schemeClr val="bg1"/>
                </a:solidFill>
              </a:rPr>
              <a:t>	Ideea proiectului </a:t>
            </a:r>
            <a:r>
              <a:rPr lang="ro-RO" sz="2000" b="1" dirty="0" err="1">
                <a:solidFill>
                  <a:schemeClr val="bg1"/>
                </a:solidFill>
              </a:rPr>
              <a:t>ScienceQuest</a:t>
            </a:r>
            <a:r>
              <a:rPr lang="ro-RO" sz="2000" dirty="0">
                <a:solidFill>
                  <a:schemeClr val="bg1"/>
                </a:solidFill>
              </a:rPr>
              <a:t> pornește de la dificultatea elevilor de a înțelege conceptele științifice abstracte prin metode clasice. Jocul propune o alternativă interactivă, în care elevul învață prin explorare și rezolvarea de provocări.</a:t>
            </a:r>
          </a:p>
          <a:p>
            <a:pPr algn="just"/>
            <a:endParaRPr lang="ro-RO" sz="2000" dirty="0">
              <a:solidFill>
                <a:schemeClr val="bg1"/>
              </a:solidFill>
            </a:endParaRPr>
          </a:p>
          <a:p>
            <a:pPr algn="just"/>
            <a:r>
              <a:rPr lang="ro-RO" sz="2000" dirty="0">
                <a:solidFill>
                  <a:schemeClr val="bg1"/>
                </a:solidFill>
              </a:rPr>
              <a:t>Scenariul jocului urmărește un elev care explorează o hartă principală și accesează laboratoare de biologie, fizică și chimie. În fiecare laborator, jucătorul interacționează cu profesori, răspunde la întrebări și rezolvă mini-jocuri pentru a progresa.</a:t>
            </a:r>
            <a:endParaRPr lang="ro-RO" dirty="0">
              <a:solidFill>
                <a:schemeClr val="bg1"/>
              </a:solidFill>
            </a:endParaRPr>
          </a:p>
        </p:txBody>
      </p:sp>
    </p:spTree>
    <p:extLst>
      <p:ext uri="{BB962C8B-B14F-4D97-AF65-F5344CB8AC3E}">
        <p14:creationId xmlns:p14="http://schemas.microsoft.com/office/powerpoint/2010/main" val="7461256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5FB02-59DF-4DA2-7A12-E5EB634C3F34}"/>
            </a:ext>
          </a:extLst>
        </p:cNvPr>
        <p:cNvGrpSpPr/>
        <p:nvPr/>
      </p:nvGrpSpPr>
      <p:grpSpPr>
        <a:xfrm>
          <a:off x="0" y="0"/>
          <a:ext cx="0" cy="0"/>
          <a:chOff x="0" y="0"/>
          <a:chExt cx="0" cy="0"/>
        </a:xfrm>
      </p:grpSpPr>
      <p:pic>
        <p:nvPicPr>
          <p:cNvPr id="5" name="Imagine 4" descr="O imagine care conține cer, Color, copac, nor&#10;&#10;Conținutul generat de inteligența artificială poate fi incorect.">
            <a:extLst>
              <a:ext uri="{FF2B5EF4-FFF2-40B4-BE49-F238E27FC236}">
                <a16:creationId xmlns:a16="http://schemas.microsoft.com/office/drawing/2014/main" id="{05BB2193-55BB-3171-714D-D527A5E827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277725" cy="6885757"/>
          </a:xfrm>
          <a:prstGeom prst="rect">
            <a:avLst/>
          </a:prstGeom>
        </p:spPr>
      </p:pic>
      <p:sp>
        <p:nvSpPr>
          <p:cNvPr id="6" name="Dreptunghi 5">
            <a:extLst>
              <a:ext uri="{FF2B5EF4-FFF2-40B4-BE49-F238E27FC236}">
                <a16:creationId xmlns:a16="http://schemas.microsoft.com/office/drawing/2014/main" id="{927DC8B6-C2DC-BDB8-A7B1-328351D8835F}"/>
              </a:ext>
            </a:extLst>
          </p:cNvPr>
          <p:cNvSpPr/>
          <p:nvPr/>
        </p:nvSpPr>
        <p:spPr>
          <a:xfrm>
            <a:off x="1656" y="0"/>
            <a:ext cx="12501371" cy="7137653"/>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ro-RO" dirty="0"/>
          </a:p>
        </p:txBody>
      </p:sp>
      <p:pic>
        <p:nvPicPr>
          <p:cNvPr id="3" name="Imagine 2">
            <a:extLst>
              <a:ext uri="{FF2B5EF4-FFF2-40B4-BE49-F238E27FC236}">
                <a16:creationId xmlns:a16="http://schemas.microsoft.com/office/drawing/2014/main" id="{BA2E8B9C-65AB-3234-8FBE-F39D9AD41B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7774" y="2446793"/>
            <a:ext cx="3324226" cy="3324226"/>
          </a:xfrm>
          <a:prstGeom prst="rect">
            <a:avLst/>
          </a:prstGeom>
        </p:spPr>
      </p:pic>
      <p:pic>
        <p:nvPicPr>
          <p:cNvPr id="12" name="Imagine 11" descr="O imagine care conține simbol, proiectare&#10;&#10;Conținutul generat de inteligența artificială poate fi incorect.">
            <a:extLst>
              <a:ext uri="{FF2B5EF4-FFF2-40B4-BE49-F238E27FC236}">
                <a16:creationId xmlns:a16="http://schemas.microsoft.com/office/drawing/2014/main" id="{3E7B5456-3546-0C5A-4B65-DC51E31EC1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05825" y="1086981"/>
            <a:ext cx="2228850" cy="1714500"/>
          </a:xfrm>
          <a:prstGeom prst="rect">
            <a:avLst/>
          </a:prstGeom>
        </p:spPr>
      </p:pic>
      <p:pic>
        <p:nvPicPr>
          <p:cNvPr id="14" name="Imagine 13" descr="O imagine care conține captură de ecran, întuneric, pixel&#10;&#10;Conținutul generat de inteligența artificială poate fi incorect.">
            <a:extLst>
              <a:ext uri="{FF2B5EF4-FFF2-40B4-BE49-F238E27FC236}">
                <a16:creationId xmlns:a16="http://schemas.microsoft.com/office/drawing/2014/main" id="{F70A372D-3A37-FF4A-3CB7-7BCBF2ACD5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00824" y="679906"/>
            <a:ext cx="10287000" cy="6858000"/>
          </a:xfrm>
          <a:prstGeom prst="rect">
            <a:avLst/>
          </a:prstGeom>
        </p:spPr>
      </p:pic>
      <p:sp>
        <p:nvSpPr>
          <p:cNvPr id="15" name="CasetăText 14">
            <a:extLst>
              <a:ext uri="{FF2B5EF4-FFF2-40B4-BE49-F238E27FC236}">
                <a16:creationId xmlns:a16="http://schemas.microsoft.com/office/drawing/2014/main" id="{C73A58C7-771C-E9BE-BA7F-D038641E799C}"/>
              </a:ext>
            </a:extLst>
          </p:cNvPr>
          <p:cNvSpPr txBox="1"/>
          <p:nvPr/>
        </p:nvSpPr>
        <p:spPr>
          <a:xfrm>
            <a:off x="686566" y="2549241"/>
            <a:ext cx="8259188" cy="2862322"/>
          </a:xfrm>
          <a:prstGeom prst="rect">
            <a:avLst/>
          </a:prstGeom>
          <a:noFill/>
        </p:spPr>
        <p:txBody>
          <a:bodyPr wrap="square" rtlCol="0">
            <a:spAutoFit/>
          </a:bodyPr>
          <a:lstStyle/>
          <a:p>
            <a:pPr algn="just"/>
            <a:r>
              <a:rPr lang="ro-RO" sz="2000" dirty="0">
                <a:solidFill>
                  <a:schemeClr val="bg1"/>
                </a:solidFill>
              </a:rPr>
              <a:t>	Ideea proiectului </a:t>
            </a:r>
            <a:r>
              <a:rPr lang="ro-RO" sz="2000" b="1" dirty="0" err="1">
                <a:solidFill>
                  <a:schemeClr val="bg1"/>
                </a:solidFill>
              </a:rPr>
              <a:t>ScienceQuest</a:t>
            </a:r>
            <a:r>
              <a:rPr lang="ro-RO" sz="2000" dirty="0">
                <a:solidFill>
                  <a:schemeClr val="bg1"/>
                </a:solidFill>
              </a:rPr>
              <a:t> pornește de la dificultatea elevilor de a înțelege conceptele științifice abstracte prin metode clasice. Jocul propune o alternativă interactivă, în care elevul învață prin explorare și rezolvarea de provocări.</a:t>
            </a:r>
          </a:p>
          <a:p>
            <a:pPr algn="just"/>
            <a:endParaRPr lang="ro-RO" sz="2000" dirty="0">
              <a:solidFill>
                <a:schemeClr val="bg1"/>
              </a:solidFill>
            </a:endParaRPr>
          </a:p>
          <a:p>
            <a:pPr algn="just"/>
            <a:r>
              <a:rPr lang="ro-RO" sz="2000" dirty="0">
                <a:solidFill>
                  <a:schemeClr val="bg1"/>
                </a:solidFill>
              </a:rPr>
              <a:t>Scenariul jocului urmărește un elev care explorează o hartă principală și accesează laboratoare de biologie, fizică și chimie. În fiecare laborator, jucătorul interacționează cu profesori, răspunde la întrebări și rezolvă mini-jocuri pentru a progresa.</a:t>
            </a:r>
            <a:endParaRPr lang="ro-RO" dirty="0">
              <a:solidFill>
                <a:schemeClr val="bg1"/>
              </a:solidFill>
            </a:endParaRPr>
          </a:p>
        </p:txBody>
      </p:sp>
      <p:sp>
        <p:nvSpPr>
          <p:cNvPr id="16" name="CasetăText 15">
            <a:extLst>
              <a:ext uri="{FF2B5EF4-FFF2-40B4-BE49-F238E27FC236}">
                <a16:creationId xmlns:a16="http://schemas.microsoft.com/office/drawing/2014/main" id="{C470D594-CB9B-6395-D37A-94A9B5B580BC}"/>
              </a:ext>
            </a:extLst>
          </p:cNvPr>
          <p:cNvSpPr txBox="1"/>
          <p:nvPr/>
        </p:nvSpPr>
        <p:spPr>
          <a:xfrm>
            <a:off x="13252385" y="1086981"/>
            <a:ext cx="5107022" cy="646331"/>
          </a:xfrm>
          <a:prstGeom prst="rect">
            <a:avLst/>
          </a:prstGeom>
          <a:noFill/>
        </p:spPr>
        <p:txBody>
          <a:bodyPr wrap="square" rtlCol="0">
            <a:spAutoFit/>
          </a:bodyPr>
          <a:lstStyle/>
          <a:p>
            <a:r>
              <a:rPr lang="ro-RO" sz="3600" dirty="0">
                <a:solidFill>
                  <a:schemeClr val="bg1"/>
                </a:solidFill>
                <a:latin typeface="+mj-lt"/>
                <a:ea typeface="ByteBounce" panose="02000603000000000000" pitchFamily="2" charset="0"/>
              </a:rPr>
              <a:t>Obiectivele educaționale</a:t>
            </a:r>
            <a:endParaRPr lang="ro-RO" sz="3600" dirty="0">
              <a:solidFill>
                <a:schemeClr val="bg1"/>
              </a:solidFill>
              <a:latin typeface="ByteBounce" panose="02000603000000000000" pitchFamily="2" charset="0"/>
              <a:ea typeface="ByteBounce" panose="02000603000000000000" pitchFamily="2" charset="0"/>
            </a:endParaRPr>
          </a:p>
        </p:txBody>
      </p:sp>
      <p:sp>
        <p:nvSpPr>
          <p:cNvPr id="17" name="CasetăText 16">
            <a:extLst>
              <a:ext uri="{FF2B5EF4-FFF2-40B4-BE49-F238E27FC236}">
                <a16:creationId xmlns:a16="http://schemas.microsoft.com/office/drawing/2014/main" id="{6B040260-1CB0-034D-C20E-59A455874F9B}"/>
              </a:ext>
            </a:extLst>
          </p:cNvPr>
          <p:cNvSpPr txBox="1"/>
          <p:nvPr/>
        </p:nvSpPr>
        <p:spPr>
          <a:xfrm>
            <a:off x="13252385" y="2287310"/>
            <a:ext cx="6128425" cy="3416320"/>
          </a:xfrm>
          <a:prstGeom prst="rect">
            <a:avLst/>
          </a:prstGeom>
          <a:noFill/>
        </p:spPr>
        <p:txBody>
          <a:bodyPr wrap="square" rtlCol="0">
            <a:spAutoFit/>
          </a:bodyPr>
          <a:lstStyle/>
          <a:p>
            <a:pPr algn="just"/>
            <a:r>
              <a:rPr lang="ro-RO" dirty="0">
                <a:solidFill>
                  <a:schemeClr val="bg1"/>
                </a:solidFill>
              </a:rPr>
              <a:t>Scopul principal al jocului este consolidarea cunoștințelor de bază din domeniile biologiei, fizicii și chimiei într-un mod atractiv și practic.</a:t>
            </a:r>
          </a:p>
          <a:p>
            <a:pPr algn="just"/>
            <a:endParaRPr lang="ro-RO" dirty="0">
              <a:solidFill>
                <a:schemeClr val="bg1"/>
              </a:solidFill>
            </a:endParaRPr>
          </a:p>
          <a:p>
            <a:pPr algn="just"/>
            <a:r>
              <a:rPr lang="ro-RO" dirty="0">
                <a:solidFill>
                  <a:schemeClr val="bg1"/>
                </a:solidFill>
              </a:rPr>
              <a:t>Jocul urmărește:</a:t>
            </a:r>
          </a:p>
          <a:p>
            <a:pPr algn="just"/>
            <a:endParaRPr lang="ro-RO" dirty="0">
              <a:solidFill>
                <a:schemeClr val="bg1"/>
              </a:solidFill>
            </a:endParaRPr>
          </a:p>
          <a:p>
            <a:pPr marL="285750" indent="-285750" algn="just">
              <a:buFont typeface="Arial" panose="020B0604020202020204" pitchFamily="34" charset="0"/>
              <a:buChar char="•"/>
            </a:pPr>
            <a:r>
              <a:rPr lang="ro-RO" dirty="0">
                <a:solidFill>
                  <a:schemeClr val="bg1"/>
                </a:solidFill>
              </a:rPr>
              <a:t> stimularea gândirii logice și a atenției;</a:t>
            </a:r>
          </a:p>
          <a:p>
            <a:pPr marL="285750" indent="-285750" algn="just">
              <a:buFont typeface="Arial" panose="020B0604020202020204" pitchFamily="34" charset="0"/>
              <a:buChar char="•"/>
            </a:pPr>
            <a:r>
              <a:rPr lang="ro-RO" dirty="0">
                <a:solidFill>
                  <a:schemeClr val="bg1"/>
                </a:solidFill>
              </a:rPr>
              <a:t> aplicarea cunoștințelor teoretice în contexte interactive;</a:t>
            </a:r>
          </a:p>
          <a:p>
            <a:pPr marL="285750" indent="-285750" algn="just">
              <a:buFont typeface="Arial" panose="020B0604020202020204" pitchFamily="34" charset="0"/>
              <a:buChar char="•"/>
            </a:pPr>
            <a:r>
              <a:rPr lang="ro-RO" dirty="0">
                <a:solidFill>
                  <a:schemeClr val="bg1"/>
                </a:solidFill>
              </a:rPr>
              <a:t> oferirea de feedback imediat pentru corectarea greșelilor;</a:t>
            </a:r>
          </a:p>
          <a:p>
            <a:pPr marL="285750" indent="-285750" algn="just">
              <a:buFont typeface="Arial" panose="020B0604020202020204" pitchFamily="34" charset="0"/>
              <a:buChar char="•"/>
            </a:pPr>
            <a:r>
              <a:rPr lang="ro-RO" dirty="0">
                <a:solidFill>
                  <a:schemeClr val="bg1"/>
                </a:solidFill>
              </a:rPr>
              <a:t> creșterea motivației pentru învățare prin </a:t>
            </a:r>
            <a:r>
              <a:rPr lang="ro-RO" dirty="0" err="1">
                <a:solidFill>
                  <a:schemeClr val="bg1"/>
                </a:solidFill>
              </a:rPr>
              <a:t>gamificare</a:t>
            </a:r>
            <a:r>
              <a:rPr lang="ro-RO" dirty="0">
                <a:solidFill>
                  <a:schemeClr val="bg1"/>
                </a:solidFill>
              </a:rPr>
              <a:t>.</a:t>
            </a:r>
          </a:p>
          <a:p>
            <a:pPr algn="just"/>
            <a:endParaRPr lang="ro-RO" dirty="0">
              <a:solidFill>
                <a:schemeClr val="bg1"/>
              </a:solidFill>
            </a:endParaRPr>
          </a:p>
        </p:txBody>
      </p:sp>
      <p:sp>
        <p:nvSpPr>
          <p:cNvPr id="20" name="CasetăText 19">
            <a:extLst>
              <a:ext uri="{FF2B5EF4-FFF2-40B4-BE49-F238E27FC236}">
                <a16:creationId xmlns:a16="http://schemas.microsoft.com/office/drawing/2014/main" id="{8D0DC2E1-F4BC-31FC-0F56-ADCEF99C7E40}"/>
              </a:ext>
            </a:extLst>
          </p:cNvPr>
          <p:cNvSpPr txBox="1"/>
          <p:nvPr/>
        </p:nvSpPr>
        <p:spPr>
          <a:xfrm>
            <a:off x="1013793" y="-2739148"/>
            <a:ext cx="10164413" cy="2246769"/>
          </a:xfrm>
          <a:prstGeom prst="rect">
            <a:avLst/>
          </a:prstGeom>
          <a:noFill/>
        </p:spPr>
        <p:txBody>
          <a:bodyPr wrap="square" rtlCol="0">
            <a:spAutoFit/>
          </a:bodyPr>
          <a:lstStyle/>
          <a:p>
            <a:pPr algn="ctr"/>
            <a:r>
              <a:rPr lang="ro-RO" sz="14000" dirty="0" err="1">
                <a:solidFill>
                  <a:schemeClr val="bg1"/>
                </a:solidFill>
                <a:latin typeface="Bytebounce" panose="02000603000000000000" pitchFamily="2" charset="0"/>
                <a:ea typeface="Bytebounce" panose="02000603000000000000" pitchFamily="2" charset="0"/>
              </a:rPr>
              <a:t>Science</a:t>
            </a:r>
            <a:r>
              <a:rPr lang="ro-RO" sz="14000" dirty="0">
                <a:solidFill>
                  <a:schemeClr val="bg1"/>
                </a:solidFill>
                <a:latin typeface="Bytebounce" panose="02000603000000000000" pitchFamily="2" charset="0"/>
                <a:ea typeface="Bytebounce" panose="02000603000000000000" pitchFamily="2" charset="0"/>
              </a:rPr>
              <a:t> </a:t>
            </a:r>
            <a:r>
              <a:rPr lang="ro-RO" sz="14000" dirty="0" err="1">
                <a:solidFill>
                  <a:schemeClr val="bg1"/>
                </a:solidFill>
                <a:latin typeface="Bytebounce" panose="02000603000000000000" pitchFamily="2" charset="0"/>
                <a:ea typeface="Bytebounce" panose="02000603000000000000" pitchFamily="2" charset="0"/>
              </a:rPr>
              <a:t>Quest</a:t>
            </a:r>
            <a:endParaRPr lang="ro-RO" sz="14000" dirty="0">
              <a:solidFill>
                <a:schemeClr val="bg1"/>
              </a:solidFill>
              <a:latin typeface="Bytebounce" panose="02000603000000000000" pitchFamily="2" charset="0"/>
              <a:ea typeface="Bytebounce" panose="02000603000000000000" pitchFamily="2" charset="0"/>
            </a:endParaRPr>
          </a:p>
        </p:txBody>
      </p:sp>
    </p:spTree>
    <p:extLst>
      <p:ext uri="{BB962C8B-B14F-4D97-AF65-F5344CB8AC3E}">
        <p14:creationId xmlns:p14="http://schemas.microsoft.com/office/powerpoint/2010/main" val="12142016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E2E94-9666-1DE1-784C-7C720422FFC7}"/>
            </a:ext>
          </a:extLst>
        </p:cNvPr>
        <p:cNvGrpSpPr/>
        <p:nvPr/>
      </p:nvGrpSpPr>
      <p:grpSpPr>
        <a:xfrm>
          <a:off x="0" y="0"/>
          <a:ext cx="0" cy="0"/>
          <a:chOff x="0" y="0"/>
          <a:chExt cx="0" cy="0"/>
        </a:xfrm>
      </p:grpSpPr>
      <p:pic>
        <p:nvPicPr>
          <p:cNvPr id="5" name="Imagine 4" descr="O imagine care conține cer, Color, copac, nor&#10;&#10;Conținutul generat de inteligența artificială poate fi incorect.">
            <a:extLst>
              <a:ext uri="{FF2B5EF4-FFF2-40B4-BE49-F238E27FC236}">
                <a16:creationId xmlns:a16="http://schemas.microsoft.com/office/drawing/2014/main" id="{99CFE248-B578-ED5F-B409-2FF9A078F7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277725" cy="6885757"/>
          </a:xfrm>
          <a:prstGeom prst="rect">
            <a:avLst/>
          </a:prstGeom>
        </p:spPr>
      </p:pic>
      <p:sp>
        <p:nvSpPr>
          <p:cNvPr id="6" name="Dreptunghi 5">
            <a:extLst>
              <a:ext uri="{FF2B5EF4-FFF2-40B4-BE49-F238E27FC236}">
                <a16:creationId xmlns:a16="http://schemas.microsoft.com/office/drawing/2014/main" id="{364F45DF-DFC5-1F0F-DFA0-B7B323FFAB43}"/>
              </a:ext>
            </a:extLst>
          </p:cNvPr>
          <p:cNvSpPr/>
          <p:nvPr/>
        </p:nvSpPr>
        <p:spPr>
          <a:xfrm>
            <a:off x="-1" y="0"/>
            <a:ext cx="12501371" cy="7137653"/>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ro-RO" dirty="0"/>
          </a:p>
        </p:txBody>
      </p:sp>
      <p:pic>
        <p:nvPicPr>
          <p:cNvPr id="2" name="Imagine 1" descr="O imagine care conține captură de ecran, întuneric, pixel&#10;&#10;Conținutul generat de inteligența artificială poate fi incorect.">
            <a:extLst>
              <a:ext uri="{FF2B5EF4-FFF2-40B4-BE49-F238E27FC236}">
                <a16:creationId xmlns:a16="http://schemas.microsoft.com/office/drawing/2014/main" id="{AB181807-18DE-842A-9A41-EB1F685617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0953" y="832306"/>
            <a:ext cx="10287000" cy="6858000"/>
          </a:xfrm>
          <a:prstGeom prst="rect">
            <a:avLst/>
          </a:prstGeom>
        </p:spPr>
      </p:pic>
      <p:sp>
        <p:nvSpPr>
          <p:cNvPr id="7" name="CasetăText 6">
            <a:extLst>
              <a:ext uri="{FF2B5EF4-FFF2-40B4-BE49-F238E27FC236}">
                <a16:creationId xmlns:a16="http://schemas.microsoft.com/office/drawing/2014/main" id="{81EBA41F-CDD8-D67F-A407-33AFBE6333A4}"/>
              </a:ext>
            </a:extLst>
          </p:cNvPr>
          <p:cNvSpPr txBox="1"/>
          <p:nvPr/>
        </p:nvSpPr>
        <p:spPr>
          <a:xfrm>
            <a:off x="4423157" y="1559423"/>
            <a:ext cx="6128425" cy="646331"/>
          </a:xfrm>
          <a:prstGeom prst="rect">
            <a:avLst/>
          </a:prstGeom>
          <a:noFill/>
        </p:spPr>
        <p:txBody>
          <a:bodyPr wrap="square" rtlCol="0">
            <a:spAutoFit/>
          </a:bodyPr>
          <a:lstStyle/>
          <a:p>
            <a:r>
              <a:rPr lang="ro-RO" sz="3600" dirty="0">
                <a:solidFill>
                  <a:schemeClr val="bg1"/>
                </a:solidFill>
                <a:ea typeface="ByteBounce" panose="02000603000000000000" pitchFamily="2" charset="0"/>
              </a:rPr>
              <a:t>Obiectivele educaționale</a:t>
            </a:r>
            <a:endParaRPr lang="ro-RO" sz="3600" dirty="0">
              <a:solidFill>
                <a:schemeClr val="bg1"/>
              </a:solidFill>
              <a:latin typeface="ByteBounce" panose="02000603000000000000" pitchFamily="2" charset="0"/>
              <a:ea typeface="ByteBounce" panose="02000603000000000000" pitchFamily="2" charset="0"/>
            </a:endParaRPr>
          </a:p>
        </p:txBody>
      </p:sp>
      <p:sp>
        <p:nvSpPr>
          <p:cNvPr id="8" name="CasetăText 7">
            <a:extLst>
              <a:ext uri="{FF2B5EF4-FFF2-40B4-BE49-F238E27FC236}">
                <a16:creationId xmlns:a16="http://schemas.microsoft.com/office/drawing/2014/main" id="{BD1E166C-120C-880F-0700-FD788E10045E}"/>
              </a:ext>
            </a:extLst>
          </p:cNvPr>
          <p:cNvSpPr txBox="1"/>
          <p:nvPr/>
        </p:nvSpPr>
        <p:spPr>
          <a:xfrm>
            <a:off x="4423158" y="2759752"/>
            <a:ext cx="6128425" cy="3416320"/>
          </a:xfrm>
          <a:prstGeom prst="rect">
            <a:avLst/>
          </a:prstGeom>
          <a:noFill/>
        </p:spPr>
        <p:txBody>
          <a:bodyPr wrap="square" rtlCol="0">
            <a:spAutoFit/>
          </a:bodyPr>
          <a:lstStyle/>
          <a:p>
            <a:pPr algn="just"/>
            <a:r>
              <a:rPr lang="ro-RO" dirty="0">
                <a:solidFill>
                  <a:schemeClr val="bg1"/>
                </a:solidFill>
              </a:rPr>
              <a:t>Scopul principal al jocului este consolidarea cunoștințelor de bază din domeniile biologiei, fizicii și chimiei într-un mod atractiv și practic.</a:t>
            </a:r>
          </a:p>
          <a:p>
            <a:pPr algn="just"/>
            <a:endParaRPr lang="ro-RO" dirty="0">
              <a:solidFill>
                <a:schemeClr val="bg1"/>
              </a:solidFill>
            </a:endParaRPr>
          </a:p>
          <a:p>
            <a:pPr algn="just"/>
            <a:r>
              <a:rPr lang="ro-RO" dirty="0">
                <a:solidFill>
                  <a:schemeClr val="bg1"/>
                </a:solidFill>
              </a:rPr>
              <a:t>Jocul urmărește:</a:t>
            </a:r>
          </a:p>
          <a:p>
            <a:pPr algn="just"/>
            <a:endParaRPr lang="ro-RO" dirty="0">
              <a:solidFill>
                <a:schemeClr val="bg1"/>
              </a:solidFill>
            </a:endParaRPr>
          </a:p>
          <a:p>
            <a:pPr marL="285750" indent="-285750" algn="just">
              <a:buFont typeface="Arial" panose="020B0604020202020204" pitchFamily="34" charset="0"/>
              <a:buChar char="•"/>
            </a:pPr>
            <a:r>
              <a:rPr lang="ro-RO" dirty="0">
                <a:solidFill>
                  <a:schemeClr val="bg1"/>
                </a:solidFill>
              </a:rPr>
              <a:t> stimularea gândirii logice și a atenției;</a:t>
            </a:r>
          </a:p>
          <a:p>
            <a:pPr marL="285750" indent="-285750" algn="just">
              <a:buFont typeface="Arial" panose="020B0604020202020204" pitchFamily="34" charset="0"/>
              <a:buChar char="•"/>
            </a:pPr>
            <a:r>
              <a:rPr lang="ro-RO" dirty="0">
                <a:solidFill>
                  <a:schemeClr val="bg1"/>
                </a:solidFill>
              </a:rPr>
              <a:t> aplicarea cunoștințelor teoretice în contexte interactive;</a:t>
            </a:r>
          </a:p>
          <a:p>
            <a:pPr marL="285750" indent="-285750" algn="just">
              <a:buFont typeface="Arial" panose="020B0604020202020204" pitchFamily="34" charset="0"/>
              <a:buChar char="•"/>
            </a:pPr>
            <a:r>
              <a:rPr lang="ro-RO" dirty="0">
                <a:solidFill>
                  <a:schemeClr val="bg1"/>
                </a:solidFill>
              </a:rPr>
              <a:t> oferirea de feedback imediat pentru corectarea greșelilor;</a:t>
            </a:r>
          </a:p>
          <a:p>
            <a:pPr marL="285750" indent="-285750" algn="just">
              <a:buFont typeface="Arial" panose="020B0604020202020204" pitchFamily="34" charset="0"/>
              <a:buChar char="•"/>
            </a:pPr>
            <a:r>
              <a:rPr lang="ro-RO" dirty="0">
                <a:solidFill>
                  <a:schemeClr val="bg1"/>
                </a:solidFill>
              </a:rPr>
              <a:t> creșterea motivației pentru învățare prin </a:t>
            </a:r>
            <a:r>
              <a:rPr lang="ro-RO" dirty="0" err="1">
                <a:solidFill>
                  <a:schemeClr val="bg1"/>
                </a:solidFill>
              </a:rPr>
              <a:t>gamificare</a:t>
            </a:r>
            <a:r>
              <a:rPr lang="ro-RO" dirty="0">
                <a:solidFill>
                  <a:schemeClr val="bg1"/>
                </a:solidFill>
              </a:rPr>
              <a:t>.</a:t>
            </a:r>
          </a:p>
          <a:p>
            <a:pPr algn="just"/>
            <a:endParaRPr lang="ro-RO" dirty="0">
              <a:solidFill>
                <a:schemeClr val="bg1"/>
              </a:solidFill>
            </a:endParaRPr>
          </a:p>
        </p:txBody>
      </p:sp>
      <p:sp>
        <p:nvSpPr>
          <p:cNvPr id="10" name="CasetăText 9">
            <a:extLst>
              <a:ext uri="{FF2B5EF4-FFF2-40B4-BE49-F238E27FC236}">
                <a16:creationId xmlns:a16="http://schemas.microsoft.com/office/drawing/2014/main" id="{A431169E-18CC-F7C3-59EF-206F5723A53F}"/>
              </a:ext>
            </a:extLst>
          </p:cNvPr>
          <p:cNvSpPr txBox="1"/>
          <p:nvPr/>
        </p:nvSpPr>
        <p:spPr>
          <a:xfrm>
            <a:off x="-9853875" y="2830162"/>
            <a:ext cx="9630228" cy="1477328"/>
          </a:xfrm>
          <a:prstGeom prst="rect">
            <a:avLst/>
          </a:prstGeom>
          <a:noFill/>
        </p:spPr>
        <p:txBody>
          <a:bodyPr wrap="square">
            <a:spAutoFit/>
          </a:bodyPr>
          <a:lstStyle/>
          <a:p>
            <a:pPr algn="just"/>
            <a:r>
              <a:rPr lang="ro-RO" sz="1800" b="1" dirty="0" err="1">
                <a:solidFill>
                  <a:schemeClr val="bg1"/>
                </a:solidFill>
              </a:rPr>
              <a:t>ScienceQuest</a:t>
            </a:r>
            <a:r>
              <a:rPr lang="ro-RO" sz="1800" b="1" dirty="0">
                <a:solidFill>
                  <a:schemeClr val="bg1"/>
                </a:solidFill>
              </a:rPr>
              <a:t> </a:t>
            </a:r>
            <a:r>
              <a:rPr lang="ro-RO" sz="1800" dirty="0">
                <a:solidFill>
                  <a:schemeClr val="bg1"/>
                </a:solidFill>
              </a:rPr>
              <a:t>este un joc educațional 2D destinat elevilor, conceput pentru a sprijini învățarea disciplinelor STEM prin metode interactive și atractive. Proiectul combină elemente de explorare, </a:t>
            </a:r>
            <a:r>
              <a:rPr lang="ro-RO" sz="1800" dirty="0" err="1">
                <a:solidFill>
                  <a:schemeClr val="bg1"/>
                </a:solidFill>
              </a:rPr>
              <a:t>quiz</a:t>
            </a:r>
            <a:r>
              <a:rPr lang="ro-RO" sz="1800" dirty="0">
                <a:solidFill>
                  <a:schemeClr val="bg1"/>
                </a:solidFill>
              </a:rPr>
              <a:t>-uri și mini-jocuri pentru a transforma conceptele științifice abstracte în experiențe practice și ușor de înțeles.</a:t>
            </a:r>
          </a:p>
          <a:p>
            <a:pPr algn="just"/>
            <a:endParaRPr lang="ro-RO" dirty="0">
              <a:solidFill>
                <a:schemeClr val="bg1"/>
              </a:solidFill>
            </a:endParaRPr>
          </a:p>
        </p:txBody>
      </p:sp>
      <p:pic>
        <p:nvPicPr>
          <p:cNvPr id="11" name="Imagine 10" descr="O imagine care conține captură de ecran, întuneric, pixel, noapte&#10;&#10;Conținutul generat de inteligența artificială poate fi incorect.">
            <a:extLst>
              <a:ext uri="{FF2B5EF4-FFF2-40B4-BE49-F238E27FC236}">
                <a16:creationId xmlns:a16="http://schemas.microsoft.com/office/drawing/2014/main" id="{DC5EA717-404B-01A3-3198-85A76E392F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50952" y="354697"/>
            <a:ext cx="11003414" cy="7335609"/>
          </a:xfrm>
          <a:prstGeom prst="rect">
            <a:avLst/>
          </a:prstGeom>
        </p:spPr>
      </p:pic>
      <p:sp>
        <p:nvSpPr>
          <p:cNvPr id="19" name="CasetăText 18">
            <a:extLst>
              <a:ext uri="{FF2B5EF4-FFF2-40B4-BE49-F238E27FC236}">
                <a16:creationId xmlns:a16="http://schemas.microsoft.com/office/drawing/2014/main" id="{19AE8585-257D-282E-0AE4-2D787352B268}"/>
              </a:ext>
            </a:extLst>
          </p:cNvPr>
          <p:cNvSpPr txBox="1"/>
          <p:nvPr/>
        </p:nvSpPr>
        <p:spPr>
          <a:xfrm>
            <a:off x="-5218846" y="1559423"/>
            <a:ext cx="5107022" cy="646331"/>
          </a:xfrm>
          <a:prstGeom prst="rect">
            <a:avLst/>
          </a:prstGeom>
          <a:noFill/>
        </p:spPr>
        <p:txBody>
          <a:bodyPr wrap="square" rtlCol="0">
            <a:spAutoFit/>
          </a:bodyPr>
          <a:lstStyle/>
          <a:p>
            <a:r>
              <a:rPr lang="ro-RO" sz="3600" dirty="0">
                <a:solidFill>
                  <a:schemeClr val="bg1"/>
                </a:solidFill>
                <a:latin typeface="+mj-lt"/>
                <a:ea typeface="ByteBounce" panose="02000603000000000000" pitchFamily="2" charset="0"/>
              </a:rPr>
              <a:t>Algoritmi și logică utilizată</a:t>
            </a:r>
          </a:p>
        </p:txBody>
      </p:sp>
    </p:spTree>
    <p:extLst>
      <p:ext uri="{BB962C8B-B14F-4D97-AF65-F5344CB8AC3E}">
        <p14:creationId xmlns:p14="http://schemas.microsoft.com/office/powerpoint/2010/main" val="1064153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81328-3616-D987-8E0D-72F65348C5B2}"/>
            </a:ext>
          </a:extLst>
        </p:cNvPr>
        <p:cNvGrpSpPr/>
        <p:nvPr/>
      </p:nvGrpSpPr>
      <p:grpSpPr>
        <a:xfrm>
          <a:off x="0" y="0"/>
          <a:ext cx="0" cy="0"/>
          <a:chOff x="0" y="0"/>
          <a:chExt cx="0" cy="0"/>
        </a:xfrm>
      </p:grpSpPr>
      <p:pic>
        <p:nvPicPr>
          <p:cNvPr id="5" name="Imagine 4" descr="O imagine care conține cer, Color, copac, nor&#10;&#10;Conținutul generat de inteligența artificială poate fi incorect.">
            <a:extLst>
              <a:ext uri="{FF2B5EF4-FFF2-40B4-BE49-F238E27FC236}">
                <a16:creationId xmlns:a16="http://schemas.microsoft.com/office/drawing/2014/main" id="{6D0F9FDE-11F7-65D8-65B5-5BCF863DC9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277725" cy="6885757"/>
          </a:xfrm>
          <a:prstGeom prst="rect">
            <a:avLst/>
          </a:prstGeom>
        </p:spPr>
      </p:pic>
      <p:sp>
        <p:nvSpPr>
          <p:cNvPr id="6" name="Dreptunghi 5">
            <a:extLst>
              <a:ext uri="{FF2B5EF4-FFF2-40B4-BE49-F238E27FC236}">
                <a16:creationId xmlns:a16="http://schemas.microsoft.com/office/drawing/2014/main" id="{6DF93C52-AA04-912E-CEB6-42CD1B84647C}"/>
              </a:ext>
            </a:extLst>
          </p:cNvPr>
          <p:cNvSpPr/>
          <p:nvPr/>
        </p:nvSpPr>
        <p:spPr>
          <a:xfrm>
            <a:off x="-111825" y="-116577"/>
            <a:ext cx="12501371" cy="7137653"/>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ro-RO" dirty="0"/>
          </a:p>
        </p:txBody>
      </p:sp>
      <p:pic>
        <p:nvPicPr>
          <p:cNvPr id="2" name="Imagine 1" descr="O imagine care conține captură de ecran, întuneric, pixel&#10;&#10;Conținutul generat de inteligența artificială poate fi incorect.">
            <a:extLst>
              <a:ext uri="{FF2B5EF4-FFF2-40B4-BE49-F238E27FC236}">
                <a16:creationId xmlns:a16="http://schemas.microsoft.com/office/drawing/2014/main" id="{8F8377AA-E0C4-C549-D274-D89A0107DD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8110" y="832306"/>
            <a:ext cx="10287000" cy="6858000"/>
          </a:xfrm>
          <a:prstGeom prst="rect">
            <a:avLst/>
          </a:prstGeom>
        </p:spPr>
      </p:pic>
      <p:sp>
        <p:nvSpPr>
          <p:cNvPr id="7" name="CasetăText 6">
            <a:extLst>
              <a:ext uri="{FF2B5EF4-FFF2-40B4-BE49-F238E27FC236}">
                <a16:creationId xmlns:a16="http://schemas.microsoft.com/office/drawing/2014/main" id="{7419E7B1-B291-E891-3D63-E4862A20B2C4}"/>
              </a:ext>
            </a:extLst>
          </p:cNvPr>
          <p:cNvSpPr txBox="1"/>
          <p:nvPr/>
        </p:nvSpPr>
        <p:spPr>
          <a:xfrm>
            <a:off x="1276081" y="1263775"/>
            <a:ext cx="5107022" cy="646331"/>
          </a:xfrm>
          <a:prstGeom prst="rect">
            <a:avLst/>
          </a:prstGeom>
          <a:noFill/>
        </p:spPr>
        <p:txBody>
          <a:bodyPr wrap="square" rtlCol="0">
            <a:spAutoFit/>
          </a:bodyPr>
          <a:lstStyle/>
          <a:p>
            <a:r>
              <a:rPr lang="ro-RO" sz="3600" dirty="0">
                <a:solidFill>
                  <a:schemeClr val="bg1"/>
                </a:solidFill>
                <a:latin typeface="+mj-lt"/>
                <a:ea typeface="ByteBounce" panose="02000603000000000000" pitchFamily="2" charset="0"/>
              </a:rPr>
              <a:t>Algoritmi și logică utilizată</a:t>
            </a:r>
          </a:p>
        </p:txBody>
      </p:sp>
      <p:sp>
        <p:nvSpPr>
          <p:cNvPr id="8" name="CasetăText 7">
            <a:extLst>
              <a:ext uri="{FF2B5EF4-FFF2-40B4-BE49-F238E27FC236}">
                <a16:creationId xmlns:a16="http://schemas.microsoft.com/office/drawing/2014/main" id="{E0B4EA6C-1A64-6C3B-B55C-F91A8BB96D3D}"/>
              </a:ext>
            </a:extLst>
          </p:cNvPr>
          <p:cNvSpPr txBox="1"/>
          <p:nvPr/>
        </p:nvSpPr>
        <p:spPr>
          <a:xfrm>
            <a:off x="1276081" y="2414846"/>
            <a:ext cx="6128425" cy="3416320"/>
          </a:xfrm>
          <a:prstGeom prst="rect">
            <a:avLst/>
          </a:prstGeom>
          <a:noFill/>
        </p:spPr>
        <p:txBody>
          <a:bodyPr wrap="square" rtlCol="0">
            <a:spAutoFit/>
          </a:bodyPr>
          <a:lstStyle/>
          <a:p>
            <a:pPr algn="just"/>
            <a:r>
              <a:rPr lang="ro-RO" dirty="0">
                <a:solidFill>
                  <a:schemeClr val="bg1"/>
                </a:solidFill>
              </a:rPr>
              <a:t>Jocul este realizat în limbajul Java, folosind mediul </a:t>
            </a:r>
            <a:r>
              <a:rPr lang="ro-RO" dirty="0" err="1">
                <a:solidFill>
                  <a:schemeClr val="bg1"/>
                </a:solidFill>
              </a:rPr>
              <a:t>Greenfoot</a:t>
            </a:r>
            <a:r>
              <a:rPr lang="ro-RO" dirty="0">
                <a:solidFill>
                  <a:schemeClr val="bg1"/>
                </a:solidFill>
              </a:rPr>
              <a:t>. Logica aplicației se bazează pe algoritmi de control al mișcării jucătorului, detecția coliziunilor și gestionarea interacțiunilor cu NPC-uri.</a:t>
            </a:r>
          </a:p>
          <a:p>
            <a:pPr algn="just"/>
            <a:endParaRPr lang="ro-RO" dirty="0">
              <a:solidFill>
                <a:schemeClr val="bg1"/>
              </a:solidFill>
            </a:endParaRPr>
          </a:p>
          <a:p>
            <a:pPr algn="just"/>
            <a:r>
              <a:rPr lang="ro-RO" dirty="0">
                <a:solidFill>
                  <a:schemeClr val="bg1"/>
                </a:solidFill>
              </a:rPr>
              <a:t>Sunt utilizați algoritmi de:</a:t>
            </a:r>
          </a:p>
          <a:p>
            <a:pPr algn="just"/>
            <a:endParaRPr lang="ro-RO" dirty="0">
              <a:solidFill>
                <a:schemeClr val="bg1"/>
              </a:solidFill>
            </a:endParaRPr>
          </a:p>
          <a:p>
            <a:pPr marL="285750" indent="-285750" algn="just">
              <a:buFont typeface="Arial" panose="020B0604020202020204" pitchFamily="34" charset="0"/>
              <a:buChar char="•"/>
            </a:pPr>
            <a:r>
              <a:rPr lang="ro-RO" dirty="0">
                <a:solidFill>
                  <a:schemeClr val="bg1"/>
                </a:solidFill>
              </a:rPr>
              <a:t>verificare a răspunsurilor la </a:t>
            </a:r>
            <a:r>
              <a:rPr lang="ro-RO" dirty="0" err="1">
                <a:solidFill>
                  <a:schemeClr val="bg1"/>
                </a:solidFill>
              </a:rPr>
              <a:t>quiz</a:t>
            </a:r>
            <a:r>
              <a:rPr lang="ro-RO" dirty="0">
                <a:solidFill>
                  <a:schemeClr val="bg1"/>
                </a:solidFill>
              </a:rPr>
              <a:t>-uri;</a:t>
            </a:r>
          </a:p>
          <a:p>
            <a:pPr marL="285750" indent="-285750" algn="just">
              <a:buFont typeface="Arial" panose="020B0604020202020204" pitchFamily="34" charset="0"/>
              <a:buChar char="•"/>
            </a:pPr>
            <a:r>
              <a:rPr lang="ro-RO" dirty="0">
                <a:solidFill>
                  <a:schemeClr val="bg1"/>
                </a:solidFill>
              </a:rPr>
              <a:t>gestionare a progresului (niveluri, punctaj, laboratoare finalizate);</a:t>
            </a:r>
          </a:p>
          <a:p>
            <a:pPr marL="285750" indent="-285750" algn="just">
              <a:buFont typeface="Arial" panose="020B0604020202020204" pitchFamily="34" charset="0"/>
              <a:buChar char="•"/>
            </a:pPr>
            <a:r>
              <a:rPr lang="ro-RO" dirty="0">
                <a:solidFill>
                  <a:schemeClr val="bg1"/>
                </a:solidFill>
              </a:rPr>
              <a:t>control al stărilor jocului (explorare, dialog, mini-joc);</a:t>
            </a:r>
          </a:p>
          <a:p>
            <a:pPr marL="285750" indent="-285750" algn="just">
              <a:buFont typeface="Arial" panose="020B0604020202020204" pitchFamily="34" charset="0"/>
              <a:buChar char="•"/>
            </a:pPr>
            <a:r>
              <a:rPr lang="ro-RO" dirty="0">
                <a:solidFill>
                  <a:schemeClr val="bg1"/>
                </a:solidFill>
              </a:rPr>
              <a:t>actualizare a elementelor grafice și a interfeței.</a:t>
            </a:r>
          </a:p>
        </p:txBody>
      </p:sp>
      <p:pic>
        <p:nvPicPr>
          <p:cNvPr id="15" name="Imagine 14" descr="O imagine care conține captură de ecran, întuneric, pixel, noapte&#10;&#10;Conținutul generat de inteligența artificială poate fi incorect.">
            <a:extLst>
              <a:ext uri="{FF2B5EF4-FFF2-40B4-BE49-F238E27FC236}">
                <a16:creationId xmlns:a16="http://schemas.microsoft.com/office/drawing/2014/main" id="{BD3852D9-5D9B-559B-103C-C1AB09EFE0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1541" y="178202"/>
            <a:ext cx="11003414" cy="7335609"/>
          </a:xfrm>
          <a:prstGeom prst="rect">
            <a:avLst/>
          </a:prstGeom>
        </p:spPr>
      </p:pic>
      <p:sp>
        <p:nvSpPr>
          <p:cNvPr id="16" name="CasetăText 15">
            <a:extLst>
              <a:ext uri="{FF2B5EF4-FFF2-40B4-BE49-F238E27FC236}">
                <a16:creationId xmlns:a16="http://schemas.microsoft.com/office/drawing/2014/main" id="{B212BBF2-DFD3-1741-1642-D5C567F55836}"/>
              </a:ext>
            </a:extLst>
          </p:cNvPr>
          <p:cNvSpPr txBox="1"/>
          <p:nvPr/>
        </p:nvSpPr>
        <p:spPr>
          <a:xfrm>
            <a:off x="5007429" y="-793721"/>
            <a:ext cx="7630689" cy="646331"/>
          </a:xfrm>
          <a:prstGeom prst="rect">
            <a:avLst/>
          </a:prstGeom>
          <a:noFill/>
        </p:spPr>
        <p:txBody>
          <a:bodyPr wrap="square" rtlCol="0">
            <a:spAutoFit/>
          </a:bodyPr>
          <a:lstStyle/>
          <a:p>
            <a:r>
              <a:rPr lang="pt-BR" sz="3600" dirty="0">
                <a:solidFill>
                  <a:schemeClr val="bg1"/>
                </a:solidFill>
                <a:latin typeface="+mj-lt"/>
                <a:ea typeface="ByteBounce" panose="02000603000000000000" pitchFamily="2" charset="0"/>
              </a:rPr>
              <a:t>Elemente de execuție și interacțiuni</a:t>
            </a:r>
            <a:endParaRPr lang="ro-RO" sz="3600" dirty="0">
              <a:solidFill>
                <a:schemeClr val="bg1"/>
              </a:solidFill>
              <a:latin typeface="+mj-lt"/>
              <a:ea typeface="ByteBounce" panose="02000603000000000000" pitchFamily="2" charset="0"/>
            </a:endParaRPr>
          </a:p>
        </p:txBody>
      </p:sp>
    </p:spTree>
    <p:extLst>
      <p:ext uri="{BB962C8B-B14F-4D97-AF65-F5344CB8AC3E}">
        <p14:creationId xmlns:p14="http://schemas.microsoft.com/office/powerpoint/2010/main" val="3793821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691E9-E0FE-4F2D-9641-27A9832DE473}"/>
            </a:ext>
          </a:extLst>
        </p:cNvPr>
        <p:cNvGrpSpPr/>
        <p:nvPr/>
      </p:nvGrpSpPr>
      <p:grpSpPr>
        <a:xfrm>
          <a:off x="0" y="0"/>
          <a:ext cx="0" cy="0"/>
          <a:chOff x="0" y="0"/>
          <a:chExt cx="0" cy="0"/>
        </a:xfrm>
      </p:grpSpPr>
      <p:pic>
        <p:nvPicPr>
          <p:cNvPr id="5" name="Imagine 4" descr="O imagine care conține cer, Color, copac, nor&#10;&#10;Conținutul generat de inteligența artificială poate fi incorect.">
            <a:extLst>
              <a:ext uri="{FF2B5EF4-FFF2-40B4-BE49-F238E27FC236}">
                <a16:creationId xmlns:a16="http://schemas.microsoft.com/office/drawing/2014/main" id="{0C0D2626-7173-9BE4-A4F6-7F6DC311A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277725" cy="6885757"/>
          </a:xfrm>
          <a:prstGeom prst="rect">
            <a:avLst/>
          </a:prstGeom>
        </p:spPr>
      </p:pic>
      <p:sp>
        <p:nvSpPr>
          <p:cNvPr id="6" name="Dreptunghi 5">
            <a:extLst>
              <a:ext uri="{FF2B5EF4-FFF2-40B4-BE49-F238E27FC236}">
                <a16:creationId xmlns:a16="http://schemas.microsoft.com/office/drawing/2014/main" id="{E4AA2ED2-6451-1F60-F5C7-1F68D171EA71}"/>
              </a:ext>
            </a:extLst>
          </p:cNvPr>
          <p:cNvSpPr/>
          <p:nvPr/>
        </p:nvSpPr>
        <p:spPr>
          <a:xfrm>
            <a:off x="-1" y="0"/>
            <a:ext cx="12501371" cy="7137653"/>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ro-RO" dirty="0"/>
          </a:p>
        </p:txBody>
      </p:sp>
      <p:pic>
        <p:nvPicPr>
          <p:cNvPr id="3" name="Imagine 2">
            <a:extLst>
              <a:ext uri="{FF2B5EF4-FFF2-40B4-BE49-F238E27FC236}">
                <a16:creationId xmlns:a16="http://schemas.microsoft.com/office/drawing/2014/main" id="{23066B3A-9AA5-43CE-D15A-29C0BA12D5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882369" y="2599193"/>
            <a:ext cx="3324226" cy="3324226"/>
          </a:xfrm>
          <a:prstGeom prst="rect">
            <a:avLst/>
          </a:prstGeom>
        </p:spPr>
      </p:pic>
      <p:pic>
        <p:nvPicPr>
          <p:cNvPr id="12" name="Imagine 11" descr="O imagine care conține simbol, proiectare&#10;&#10;Conținutul generat de inteligența artificială poate fi incorect.">
            <a:extLst>
              <a:ext uri="{FF2B5EF4-FFF2-40B4-BE49-F238E27FC236}">
                <a16:creationId xmlns:a16="http://schemas.microsoft.com/office/drawing/2014/main" id="{F578EA53-6CA1-49CA-9A9C-312FA9B0A1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501370" y="1201281"/>
            <a:ext cx="2228850" cy="1714500"/>
          </a:xfrm>
          <a:prstGeom prst="rect">
            <a:avLst/>
          </a:prstGeom>
        </p:spPr>
      </p:pic>
      <p:pic>
        <p:nvPicPr>
          <p:cNvPr id="2" name="Imagine 1" descr="O imagine care conține captură de ecran, întuneric, pixel&#10;&#10;Conținutul generat de inteligența artificială poate fi incorect.">
            <a:extLst>
              <a:ext uri="{FF2B5EF4-FFF2-40B4-BE49-F238E27FC236}">
                <a16:creationId xmlns:a16="http://schemas.microsoft.com/office/drawing/2014/main" id="{7CBD4A1A-7797-CDDC-7125-16823A4FB61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24574" y="832306"/>
            <a:ext cx="10287000" cy="6858000"/>
          </a:xfrm>
          <a:prstGeom prst="rect">
            <a:avLst/>
          </a:prstGeom>
        </p:spPr>
      </p:pic>
      <p:sp>
        <p:nvSpPr>
          <p:cNvPr id="4" name="CasetăText 3">
            <a:extLst>
              <a:ext uri="{FF2B5EF4-FFF2-40B4-BE49-F238E27FC236}">
                <a16:creationId xmlns:a16="http://schemas.microsoft.com/office/drawing/2014/main" id="{9B9CB558-D992-3085-2AAE-F5D7D85BDB96}"/>
              </a:ext>
            </a:extLst>
          </p:cNvPr>
          <p:cNvSpPr txBox="1"/>
          <p:nvPr/>
        </p:nvSpPr>
        <p:spPr>
          <a:xfrm>
            <a:off x="1318926" y="-2228028"/>
            <a:ext cx="9279827" cy="2246769"/>
          </a:xfrm>
          <a:prstGeom prst="rect">
            <a:avLst/>
          </a:prstGeom>
          <a:noFill/>
        </p:spPr>
        <p:txBody>
          <a:bodyPr wrap="square" rtlCol="0">
            <a:spAutoFit/>
          </a:bodyPr>
          <a:lstStyle/>
          <a:p>
            <a:pPr algn="ctr"/>
            <a:r>
              <a:rPr lang="ro-RO" sz="14000" dirty="0" err="1">
                <a:solidFill>
                  <a:schemeClr val="bg1"/>
                </a:solidFill>
                <a:latin typeface="Bytebounce" panose="02000603000000000000" pitchFamily="2" charset="0"/>
                <a:ea typeface="Bytebounce" panose="02000603000000000000" pitchFamily="2" charset="0"/>
              </a:rPr>
              <a:t>SienceQuest</a:t>
            </a:r>
            <a:endParaRPr lang="ro-RO" sz="14000" dirty="0">
              <a:solidFill>
                <a:schemeClr val="bg1"/>
              </a:solidFill>
              <a:latin typeface="Bytebounce" panose="02000603000000000000" pitchFamily="2" charset="0"/>
              <a:ea typeface="Bytebounce" panose="02000603000000000000" pitchFamily="2" charset="0"/>
            </a:endParaRPr>
          </a:p>
        </p:txBody>
      </p:sp>
      <p:sp>
        <p:nvSpPr>
          <p:cNvPr id="7" name="CasetăText 6">
            <a:extLst>
              <a:ext uri="{FF2B5EF4-FFF2-40B4-BE49-F238E27FC236}">
                <a16:creationId xmlns:a16="http://schemas.microsoft.com/office/drawing/2014/main" id="{EA5B082D-B0B9-0262-2BDF-149B58DA308F}"/>
              </a:ext>
            </a:extLst>
          </p:cNvPr>
          <p:cNvSpPr txBox="1"/>
          <p:nvPr/>
        </p:nvSpPr>
        <p:spPr>
          <a:xfrm>
            <a:off x="4557486" y="1161113"/>
            <a:ext cx="7630689" cy="646331"/>
          </a:xfrm>
          <a:prstGeom prst="rect">
            <a:avLst/>
          </a:prstGeom>
          <a:noFill/>
        </p:spPr>
        <p:txBody>
          <a:bodyPr wrap="square" rtlCol="0">
            <a:spAutoFit/>
          </a:bodyPr>
          <a:lstStyle/>
          <a:p>
            <a:r>
              <a:rPr lang="pt-BR" sz="3600" dirty="0">
                <a:solidFill>
                  <a:schemeClr val="bg1"/>
                </a:solidFill>
                <a:latin typeface="+mj-lt"/>
                <a:ea typeface="ByteBounce" panose="02000603000000000000" pitchFamily="2" charset="0"/>
              </a:rPr>
              <a:t>Elemente de execuție și interacțiuni</a:t>
            </a:r>
            <a:endParaRPr lang="ro-RO" sz="3600" dirty="0">
              <a:solidFill>
                <a:schemeClr val="bg1"/>
              </a:solidFill>
              <a:latin typeface="+mj-lt"/>
              <a:ea typeface="ByteBounce" panose="02000603000000000000" pitchFamily="2" charset="0"/>
            </a:endParaRPr>
          </a:p>
        </p:txBody>
      </p:sp>
      <p:sp>
        <p:nvSpPr>
          <p:cNvPr id="8" name="CasetăText 7">
            <a:extLst>
              <a:ext uri="{FF2B5EF4-FFF2-40B4-BE49-F238E27FC236}">
                <a16:creationId xmlns:a16="http://schemas.microsoft.com/office/drawing/2014/main" id="{9C48D394-8DA0-9F3F-AF28-0FE7883A4532}"/>
              </a:ext>
            </a:extLst>
          </p:cNvPr>
          <p:cNvSpPr txBox="1"/>
          <p:nvPr/>
        </p:nvSpPr>
        <p:spPr>
          <a:xfrm>
            <a:off x="2873828" y="2246769"/>
            <a:ext cx="8898582" cy="3139321"/>
          </a:xfrm>
          <a:prstGeom prst="rect">
            <a:avLst/>
          </a:prstGeom>
          <a:noFill/>
        </p:spPr>
        <p:txBody>
          <a:bodyPr wrap="square" rtlCol="0">
            <a:spAutoFit/>
          </a:bodyPr>
          <a:lstStyle/>
          <a:p>
            <a:pPr algn="just"/>
            <a:r>
              <a:rPr lang="ro-RO" dirty="0">
                <a:solidFill>
                  <a:schemeClr val="bg1"/>
                </a:solidFill>
              </a:rPr>
              <a:t>Jocul se controlează prin tastatură, folosind tastele direcționale pentru deplasarea personajului. Interacțiunile cu profesorii și obiectele din joc se declanșează prin apropierea de acestea sau prin acțiuni specifice indicate pe ecran.</a:t>
            </a:r>
          </a:p>
          <a:p>
            <a:pPr algn="just"/>
            <a:endParaRPr lang="ro-RO" dirty="0">
              <a:solidFill>
                <a:schemeClr val="bg1"/>
              </a:solidFill>
            </a:endParaRPr>
          </a:p>
          <a:p>
            <a:pPr algn="just"/>
            <a:r>
              <a:rPr lang="ro-RO" dirty="0">
                <a:solidFill>
                  <a:schemeClr val="bg1"/>
                </a:solidFill>
              </a:rPr>
              <a:t>Elevul:</a:t>
            </a:r>
          </a:p>
          <a:p>
            <a:pPr algn="just"/>
            <a:endParaRPr lang="ro-RO" dirty="0">
              <a:solidFill>
                <a:schemeClr val="bg1"/>
              </a:solidFill>
            </a:endParaRPr>
          </a:p>
          <a:p>
            <a:pPr marL="285750" indent="-285750" algn="just">
              <a:buFont typeface="Arial" panose="020B0604020202020204" pitchFamily="34" charset="0"/>
              <a:buChar char="•"/>
            </a:pPr>
            <a:r>
              <a:rPr lang="ro-RO" dirty="0">
                <a:solidFill>
                  <a:schemeClr val="bg1"/>
                </a:solidFill>
              </a:rPr>
              <a:t>se deplasează pe hartă;</a:t>
            </a:r>
          </a:p>
          <a:p>
            <a:pPr marL="285750" indent="-285750" algn="just">
              <a:buFont typeface="Arial" panose="020B0604020202020204" pitchFamily="34" charset="0"/>
              <a:buChar char="•"/>
            </a:pPr>
            <a:r>
              <a:rPr lang="ro-RO" dirty="0">
                <a:solidFill>
                  <a:schemeClr val="bg1"/>
                </a:solidFill>
              </a:rPr>
              <a:t>intră în laboratoare;</a:t>
            </a:r>
          </a:p>
          <a:p>
            <a:pPr marL="285750" indent="-285750" algn="just">
              <a:buFont typeface="Arial" panose="020B0604020202020204" pitchFamily="34" charset="0"/>
              <a:buChar char="•"/>
            </a:pPr>
            <a:r>
              <a:rPr lang="ro-RO" dirty="0">
                <a:solidFill>
                  <a:schemeClr val="bg1"/>
                </a:solidFill>
              </a:rPr>
              <a:t>participă la dialoguri și </a:t>
            </a:r>
            <a:r>
              <a:rPr lang="ro-RO" dirty="0" err="1">
                <a:solidFill>
                  <a:schemeClr val="bg1"/>
                </a:solidFill>
              </a:rPr>
              <a:t>quiz</a:t>
            </a:r>
            <a:r>
              <a:rPr lang="ro-RO" dirty="0">
                <a:solidFill>
                  <a:schemeClr val="bg1"/>
                </a:solidFill>
              </a:rPr>
              <a:t>-uri;</a:t>
            </a:r>
          </a:p>
          <a:p>
            <a:pPr marL="285750" indent="-285750" algn="just">
              <a:buFont typeface="Arial" panose="020B0604020202020204" pitchFamily="34" charset="0"/>
              <a:buChar char="•"/>
            </a:pPr>
            <a:r>
              <a:rPr lang="ro-RO" dirty="0">
                <a:solidFill>
                  <a:schemeClr val="bg1"/>
                </a:solidFill>
              </a:rPr>
              <a:t>rezolvă mini-jocuri educaționale;</a:t>
            </a:r>
          </a:p>
          <a:p>
            <a:pPr marL="285750" indent="-285750" algn="just">
              <a:buFont typeface="Arial" panose="020B0604020202020204" pitchFamily="34" charset="0"/>
              <a:buChar char="•"/>
            </a:pPr>
            <a:r>
              <a:rPr lang="ro-RO" dirty="0">
                <a:solidFill>
                  <a:schemeClr val="bg1"/>
                </a:solidFill>
              </a:rPr>
              <a:t>urmărește progresul prin niveluri și punctaj.</a:t>
            </a:r>
          </a:p>
        </p:txBody>
      </p:sp>
      <p:pic>
        <p:nvPicPr>
          <p:cNvPr id="9" name="Imagine 8" descr="O imagine care conține captură de ecran, întuneric, pixel, noapte&#10;&#10;Conținutul generat de inteligența artificială poate fi incorect.">
            <a:extLst>
              <a:ext uri="{FF2B5EF4-FFF2-40B4-BE49-F238E27FC236}">
                <a16:creationId xmlns:a16="http://schemas.microsoft.com/office/drawing/2014/main" id="{1972722C-1AEF-0A5D-9F5B-FB54195C58D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14088" y="148624"/>
            <a:ext cx="11003414" cy="7335609"/>
          </a:xfrm>
          <a:prstGeom prst="rect">
            <a:avLst/>
          </a:prstGeom>
        </p:spPr>
      </p:pic>
      <p:sp>
        <p:nvSpPr>
          <p:cNvPr id="10" name="CasetăText 9">
            <a:extLst>
              <a:ext uri="{FF2B5EF4-FFF2-40B4-BE49-F238E27FC236}">
                <a16:creationId xmlns:a16="http://schemas.microsoft.com/office/drawing/2014/main" id="{63833F23-7C1D-376F-C69B-5F4376D96421}"/>
              </a:ext>
            </a:extLst>
          </p:cNvPr>
          <p:cNvSpPr txBox="1"/>
          <p:nvPr/>
        </p:nvSpPr>
        <p:spPr>
          <a:xfrm>
            <a:off x="915236" y="-885814"/>
            <a:ext cx="7630689" cy="646331"/>
          </a:xfrm>
          <a:prstGeom prst="rect">
            <a:avLst/>
          </a:prstGeom>
          <a:noFill/>
        </p:spPr>
        <p:txBody>
          <a:bodyPr wrap="square" rtlCol="0">
            <a:spAutoFit/>
          </a:bodyPr>
          <a:lstStyle/>
          <a:p>
            <a:r>
              <a:rPr lang="pt-BR" sz="3600" dirty="0">
                <a:solidFill>
                  <a:schemeClr val="bg1"/>
                </a:solidFill>
                <a:latin typeface="+mj-lt"/>
                <a:ea typeface="ByteBounce" panose="02000603000000000000" pitchFamily="2" charset="0"/>
              </a:rPr>
              <a:t>Contribuția membrilor echipei</a:t>
            </a:r>
            <a:endParaRPr lang="ro-RO" sz="3600" dirty="0">
              <a:solidFill>
                <a:schemeClr val="bg1"/>
              </a:solidFill>
              <a:latin typeface="+mj-lt"/>
              <a:ea typeface="ByteBounce" panose="02000603000000000000" pitchFamily="2" charset="0"/>
            </a:endParaRPr>
          </a:p>
        </p:txBody>
      </p:sp>
      <p:sp>
        <p:nvSpPr>
          <p:cNvPr id="11" name="CasetăText 10">
            <a:extLst>
              <a:ext uri="{FF2B5EF4-FFF2-40B4-BE49-F238E27FC236}">
                <a16:creationId xmlns:a16="http://schemas.microsoft.com/office/drawing/2014/main" id="{C796ACDC-EF29-A8D0-C64A-5F93186F35EF}"/>
              </a:ext>
            </a:extLst>
          </p:cNvPr>
          <p:cNvSpPr txBox="1"/>
          <p:nvPr/>
        </p:nvSpPr>
        <p:spPr>
          <a:xfrm>
            <a:off x="799122" y="7484233"/>
            <a:ext cx="8898582" cy="5909310"/>
          </a:xfrm>
          <a:prstGeom prst="rect">
            <a:avLst/>
          </a:prstGeom>
          <a:noFill/>
        </p:spPr>
        <p:txBody>
          <a:bodyPr wrap="square" rtlCol="0">
            <a:spAutoFit/>
          </a:bodyPr>
          <a:lstStyle/>
          <a:p>
            <a:pPr algn="just"/>
            <a:r>
              <a:rPr lang="ro-RO" dirty="0">
                <a:solidFill>
                  <a:schemeClr val="bg1"/>
                </a:solidFill>
              </a:rPr>
              <a:t>Proiectul </a:t>
            </a:r>
            <a:r>
              <a:rPr lang="ro-RO" dirty="0" err="1">
                <a:solidFill>
                  <a:schemeClr val="bg1"/>
                </a:solidFill>
              </a:rPr>
              <a:t>ScienceQuest</a:t>
            </a:r>
            <a:r>
              <a:rPr lang="ro-RO" dirty="0">
                <a:solidFill>
                  <a:schemeClr val="bg1"/>
                </a:solidFill>
              </a:rPr>
              <a:t> a fost realizat printr-o colaborare eficientă. Fiecare membru al echipei a avut un rol clar în procesul de dezvoltare.</a:t>
            </a:r>
          </a:p>
          <a:p>
            <a:pPr algn="just"/>
            <a:endParaRPr lang="ro-RO" dirty="0">
              <a:solidFill>
                <a:schemeClr val="bg1"/>
              </a:solidFill>
            </a:endParaRPr>
          </a:p>
          <a:p>
            <a:pPr algn="just"/>
            <a:r>
              <a:rPr lang="ro-RO" dirty="0">
                <a:solidFill>
                  <a:schemeClr val="bg1"/>
                </a:solidFill>
              </a:rPr>
              <a:t>Un membru al echipei a fost responsabil pentru implementarea logicii jocului și a algoritmilor principali, cum ar fi mișcarea jucătorului, sistemul de </a:t>
            </a:r>
            <a:r>
              <a:rPr lang="ro-RO" dirty="0" err="1">
                <a:solidFill>
                  <a:schemeClr val="bg1"/>
                </a:solidFill>
              </a:rPr>
              <a:t>quiz</a:t>
            </a:r>
            <a:r>
              <a:rPr lang="ro-RO" dirty="0">
                <a:solidFill>
                  <a:schemeClr val="bg1"/>
                </a:solidFill>
              </a:rPr>
              <a:t>-uri și gestionarea progresului. Un alt membru a contribuit la designul nivelurilor, realizarea mini-jocurilor și structurarea scenariului educațional.</a:t>
            </a:r>
          </a:p>
          <a:p>
            <a:pPr algn="just"/>
            <a:endParaRPr lang="ro-RO" dirty="0">
              <a:solidFill>
                <a:schemeClr val="bg1"/>
              </a:solidFill>
            </a:endParaRPr>
          </a:p>
          <a:p>
            <a:pPr algn="just"/>
            <a:r>
              <a:rPr lang="ro-RO" dirty="0">
                <a:solidFill>
                  <a:schemeClr val="bg1"/>
                </a:solidFill>
              </a:rPr>
              <a:t>Dezvoltarea a avut loc folosind Visual Studio Code. Colaborarea și </a:t>
            </a:r>
            <a:r>
              <a:rPr lang="ro-RO" dirty="0" err="1">
                <a:solidFill>
                  <a:schemeClr val="bg1"/>
                </a:solidFill>
              </a:rPr>
              <a:t>versionarea</a:t>
            </a:r>
            <a:r>
              <a:rPr lang="ro-RO" dirty="0">
                <a:solidFill>
                  <a:schemeClr val="bg1"/>
                </a:solidFill>
              </a:rPr>
              <a:t> codului au fost gestionate prin </a:t>
            </a:r>
            <a:r>
              <a:rPr lang="ro-RO" dirty="0" err="1">
                <a:solidFill>
                  <a:schemeClr val="bg1"/>
                </a:solidFill>
              </a:rPr>
              <a:t>GitHub</a:t>
            </a:r>
            <a:r>
              <a:rPr lang="ro-RO" dirty="0">
                <a:solidFill>
                  <a:schemeClr val="bg1"/>
                </a:solidFill>
              </a:rPr>
              <a:t>. Acest lucru a permis organizarea eficientă a muncii și corectarea rapidă a erorilor. De asemenea, în procesul de dezvoltare a fost folosită inteligența artificială (</a:t>
            </a:r>
            <a:r>
              <a:rPr lang="ro-RO" dirty="0" err="1">
                <a:solidFill>
                  <a:schemeClr val="bg1"/>
                </a:solidFill>
              </a:rPr>
              <a:t>GitHub</a:t>
            </a:r>
            <a:r>
              <a:rPr lang="ro-RO" dirty="0">
                <a:solidFill>
                  <a:schemeClr val="bg1"/>
                </a:solidFill>
              </a:rPr>
              <a:t> Copilot) ca instrument de suport pentru completarea codului, identificarea erorilor și îmbunătățirea structurii programului.</a:t>
            </a:r>
          </a:p>
          <a:p>
            <a:pPr algn="just"/>
            <a:endParaRPr lang="ro-RO" dirty="0">
              <a:solidFill>
                <a:schemeClr val="bg1"/>
              </a:solidFill>
            </a:endParaRPr>
          </a:p>
          <a:p>
            <a:pPr algn="just"/>
            <a:r>
              <a:rPr lang="ro-RO" dirty="0">
                <a:solidFill>
                  <a:schemeClr val="bg1"/>
                </a:solidFill>
              </a:rPr>
              <a:t>Chiar și cu acest ajutor, proiectul a fost o experiență de învățare importantă. Membrii echipei au aprofundat noțiuni de programare, algoritmică, organizare a codului și dezvoltare de jocuri educaționale. Toți membrii au participat la testare, </a:t>
            </a:r>
            <a:r>
              <a:rPr lang="ro-RO" dirty="0" err="1">
                <a:solidFill>
                  <a:schemeClr val="bg1"/>
                </a:solidFill>
              </a:rPr>
              <a:t>debugging</a:t>
            </a:r>
            <a:r>
              <a:rPr lang="ro-RO" dirty="0">
                <a:solidFill>
                  <a:schemeClr val="bg1"/>
                </a:solidFill>
              </a:rPr>
              <a:t> și optimizarea experienței utilizatorului.</a:t>
            </a:r>
          </a:p>
          <a:p>
            <a:pPr algn="just"/>
            <a:endParaRPr lang="ro-RO" dirty="0">
              <a:solidFill>
                <a:schemeClr val="bg1"/>
              </a:solidFill>
            </a:endParaRPr>
          </a:p>
          <a:p>
            <a:pPr algn="just"/>
            <a:r>
              <a:rPr lang="ro-RO" dirty="0" err="1">
                <a:solidFill>
                  <a:schemeClr val="bg1"/>
                </a:solidFill>
              </a:rPr>
              <a:t>Repository</a:t>
            </a:r>
            <a:r>
              <a:rPr lang="ro-RO" dirty="0">
                <a:solidFill>
                  <a:schemeClr val="bg1"/>
                </a:solidFill>
              </a:rPr>
              <a:t> </a:t>
            </a:r>
            <a:r>
              <a:rPr lang="ro-RO" dirty="0" err="1">
                <a:solidFill>
                  <a:schemeClr val="bg1"/>
                </a:solidFill>
              </a:rPr>
              <a:t>GitHub</a:t>
            </a:r>
            <a:r>
              <a:rPr lang="ro-RO" dirty="0">
                <a:solidFill>
                  <a:schemeClr val="bg1"/>
                </a:solidFill>
              </a:rPr>
              <a:t>:  </a:t>
            </a:r>
          </a:p>
          <a:p>
            <a:pPr algn="just"/>
            <a:r>
              <a:rPr lang="ro-RO" dirty="0">
                <a:solidFill>
                  <a:schemeClr val="bg1"/>
                </a:solidFill>
                <a:hlinkClick r:id="rId8"/>
              </a:rPr>
              <a:t>https://github.com/cosminqx/ScienceQuest</a:t>
            </a:r>
            <a:endParaRPr lang="ro-RO" dirty="0">
              <a:solidFill>
                <a:schemeClr val="bg1"/>
              </a:solidFill>
            </a:endParaRPr>
          </a:p>
        </p:txBody>
      </p:sp>
    </p:spTree>
    <p:extLst>
      <p:ext uri="{BB962C8B-B14F-4D97-AF65-F5344CB8AC3E}">
        <p14:creationId xmlns:p14="http://schemas.microsoft.com/office/powerpoint/2010/main" val="18846541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22BBB-404E-A79A-B0A8-747D8B2D0E9D}"/>
            </a:ext>
          </a:extLst>
        </p:cNvPr>
        <p:cNvGrpSpPr/>
        <p:nvPr/>
      </p:nvGrpSpPr>
      <p:grpSpPr>
        <a:xfrm>
          <a:off x="0" y="0"/>
          <a:ext cx="0" cy="0"/>
          <a:chOff x="0" y="0"/>
          <a:chExt cx="0" cy="0"/>
        </a:xfrm>
      </p:grpSpPr>
      <p:pic>
        <p:nvPicPr>
          <p:cNvPr id="5" name="Imagine 4" descr="O imagine care conține cer, Color, copac, nor&#10;&#10;Conținutul generat de inteligența artificială poate fi incorect.">
            <a:extLst>
              <a:ext uri="{FF2B5EF4-FFF2-40B4-BE49-F238E27FC236}">
                <a16:creationId xmlns:a16="http://schemas.microsoft.com/office/drawing/2014/main" id="{7237CB22-2AF0-6185-3D77-B93E30C6B9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277725" cy="6885757"/>
          </a:xfrm>
          <a:prstGeom prst="rect">
            <a:avLst/>
          </a:prstGeom>
        </p:spPr>
      </p:pic>
      <p:sp>
        <p:nvSpPr>
          <p:cNvPr id="6" name="Dreptunghi 5">
            <a:extLst>
              <a:ext uri="{FF2B5EF4-FFF2-40B4-BE49-F238E27FC236}">
                <a16:creationId xmlns:a16="http://schemas.microsoft.com/office/drawing/2014/main" id="{7D7C23EB-8535-B7CD-C48B-7C3AE2501816}"/>
              </a:ext>
            </a:extLst>
          </p:cNvPr>
          <p:cNvSpPr/>
          <p:nvPr/>
        </p:nvSpPr>
        <p:spPr>
          <a:xfrm>
            <a:off x="-1" y="0"/>
            <a:ext cx="12501371" cy="7137653"/>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ro-RO" dirty="0"/>
          </a:p>
        </p:txBody>
      </p:sp>
      <p:pic>
        <p:nvPicPr>
          <p:cNvPr id="3" name="Imagine 2">
            <a:extLst>
              <a:ext uri="{FF2B5EF4-FFF2-40B4-BE49-F238E27FC236}">
                <a16:creationId xmlns:a16="http://schemas.microsoft.com/office/drawing/2014/main" id="{FA1326D7-D4A5-1E13-2BDF-35F475456B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59101" y="2599193"/>
            <a:ext cx="3324226" cy="3324226"/>
          </a:xfrm>
          <a:prstGeom prst="rect">
            <a:avLst/>
          </a:prstGeom>
        </p:spPr>
      </p:pic>
      <p:sp>
        <p:nvSpPr>
          <p:cNvPr id="7" name="CasetăText 6">
            <a:extLst>
              <a:ext uri="{FF2B5EF4-FFF2-40B4-BE49-F238E27FC236}">
                <a16:creationId xmlns:a16="http://schemas.microsoft.com/office/drawing/2014/main" id="{EC8416D5-83F5-72E2-BEF0-19B507FEAEA5}"/>
              </a:ext>
            </a:extLst>
          </p:cNvPr>
          <p:cNvSpPr txBox="1"/>
          <p:nvPr/>
        </p:nvSpPr>
        <p:spPr>
          <a:xfrm>
            <a:off x="813636" y="293611"/>
            <a:ext cx="7630689" cy="646331"/>
          </a:xfrm>
          <a:prstGeom prst="rect">
            <a:avLst/>
          </a:prstGeom>
          <a:noFill/>
        </p:spPr>
        <p:txBody>
          <a:bodyPr wrap="square" rtlCol="0">
            <a:spAutoFit/>
          </a:bodyPr>
          <a:lstStyle/>
          <a:p>
            <a:r>
              <a:rPr lang="pt-BR" sz="3600" dirty="0">
                <a:solidFill>
                  <a:schemeClr val="bg1"/>
                </a:solidFill>
                <a:latin typeface="+mj-lt"/>
                <a:ea typeface="ByteBounce" panose="02000603000000000000" pitchFamily="2" charset="0"/>
              </a:rPr>
              <a:t>Contribuția membrilor echipei</a:t>
            </a:r>
            <a:endParaRPr lang="ro-RO" sz="3600" dirty="0">
              <a:solidFill>
                <a:schemeClr val="bg1"/>
              </a:solidFill>
              <a:latin typeface="+mj-lt"/>
              <a:ea typeface="ByteBounce" panose="02000603000000000000" pitchFamily="2" charset="0"/>
            </a:endParaRPr>
          </a:p>
        </p:txBody>
      </p:sp>
      <p:sp>
        <p:nvSpPr>
          <p:cNvPr id="8" name="CasetăText 7">
            <a:extLst>
              <a:ext uri="{FF2B5EF4-FFF2-40B4-BE49-F238E27FC236}">
                <a16:creationId xmlns:a16="http://schemas.microsoft.com/office/drawing/2014/main" id="{BFEC2268-9285-D317-268D-C33F128FA8AB}"/>
              </a:ext>
            </a:extLst>
          </p:cNvPr>
          <p:cNvSpPr txBox="1"/>
          <p:nvPr/>
        </p:nvSpPr>
        <p:spPr>
          <a:xfrm>
            <a:off x="813636" y="939942"/>
            <a:ext cx="8898582" cy="5909310"/>
          </a:xfrm>
          <a:prstGeom prst="rect">
            <a:avLst/>
          </a:prstGeom>
          <a:noFill/>
        </p:spPr>
        <p:txBody>
          <a:bodyPr wrap="square" rtlCol="0">
            <a:spAutoFit/>
          </a:bodyPr>
          <a:lstStyle/>
          <a:p>
            <a:pPr algn="just"/>
            <a:r>
              <a:rPr lang="ro-RO" dirty="0">
                <a:solidFill>
                  <a:schemeClr val="bg1"/>
                </a:solidFill>
              </a:rPr>
              <a:t>Proiectul </a:t>
            </a:r>
            <a:r>
              <a:rPr lang="ro-RO" dirty="0" err="1">
                <a:solidFill>
                  <a:schemeClr val="bg1"/>
                </a:solidFill>
              </a:rPr>
              <a:t>ScienceQuest</a:t>
            </a:r>
            <a:r>
              <a:rPr lang="ro-RO" dirty="0">
                <a:solidFill>
                  <a:schemeClr val="bg1"/>
                </a:solidFill>
              </a:rPr>
              <a:t> a fost realizat printr-o colaborare eficientă. Fiecare membru al echipei a avut un rol clar în procesul de dezvoltare.</a:t>
            </a:r>
          </a:p>
          <a:p>
            <a:pPr algn="just"/>
            <a:endParaRPr lang="ro-RO" dirty="0">
              <a:solidFill>
                <a:schemeClr val="bg1"/>
              </a:solidFill>
            </a:endParaRPr>
          </a:p>
          <a:p>
            <a:pPr algn="just"/>
            <a:r>
              <a:rPr lang="ro-RO" dirty="0">
                <a:solidFill>
                  <a:schemeClr val="bg1"/>
                </a:solidFill>
              </a:rPr>
              <a:t>Un membru al echipei a fost responsabil pentru implementarea logicii jocului și a algoritmilor principali, cum ar fi mișcarea jucătorului, sistemul de </a:t>
            </a:r>
            <a:r>
              <a:rPr lang="ro-RO" dirty="0" err="1">
                <a:solidFill>
                  <a:schemeClr val="bg1"/>
                </a:solidFill>
              </a:rPr>
              <a:t>quiz</a:t>
            </a:r>
            <a:r>
              <a:rPr lang="ro-RO" dirty="0">
                <a:solidFill>
                  <a:schemeClr val="bg1"/>
                </a:solidFill>
              </a:rPr>
              <a:t>-uri și gestionarea progresului. Un alt membru a contribuit la designul nivelurilor, realizarea mini-jocurilor și structurarea scenariului educațional.</a:t>
            </a:r>
          </a:p>
          <a:p>
            <a:pPr algn="just"/>
            <a:endParaRPr lang="ro-RO" dirty="0">
              <a:solidFill>
                <a:schemeClr val="bg1"/>
              </a:solidFill>
            </a:endParaRPr>
          </a:p>
          <a:p>
            <a:pPr algn="just"/>
            <a:r>
              <a:rPr lang="ro-RO" dirty="0">
                <a:solidFill>
                  <a:schemeClr val="bg1"/>
                </a:solidFill>
              </a:rPr>
              <a:t>Dezvoltarea a avut loc folosind Visual Studio Code. Colaborarea și </a:t>
            </a:r>
            <a:r>
              <a:rPr lang="ro-RO" dirty="0" err="1">
                <a:solidFill>
                  <a:schemeClr val="bg1"/>
                </a:solidFill>
              </a:rPr>
              <a:t>versionarea</a:t>
            </a:r>
            <a:r>
              <a:rPr lang="ro-RO" dirty="0">
                <a:solidFill>
                  <a:schemeClr val="bg1"/>
                </a:solidFill>
              </a:rPr>
              <a:t> codului au fost gestionate prin </a:t>
            </a:r>
            <a:r>
              <a:rPr lang="ro-RO" dirty="0" err="1">
                <a:solidFill>
                  <a:schemeClr val="bg1"/>
                </a:solidFill>
              </a:rPr>
              <a:t>GitHub</a:t>
            </a:r>
            <a:r>
              <a:rPr lang="ro-RO" dirty="0">
                <a:solidFill>
                  <a:schemeClr val="bg1"/>
                </a:solidFill>
              </a:rPr>
              <a:t>. Acest lucru a permis organizarea eficientă a muncii și corectarea rapidă a erorilor. De asemenea, în procesul de dezvoltare a fost folosită inteligența artificială (</a:t>
            </a:r>
            <a:r>
              <a:rPr lang="ro-RO" dirty="0" err="1">
                <a:solidFill>
                  <a:schemeClr val="bg1"/>
                </a:solidFill>
              </a:rPr>
              <a:t>GitHub</a:t>
            </a:r>
            <a:r>
              <a:rPr lang="ro-RO" dirty="0">
                <a:solidFill>
                  <a:schemeClr val="bg1"/>
                </a:solidFill>
              </a:rPr>
              <a:t> Copilot) ca instrument de suport pentru completarea codului, identificarea erorilor și îmbunătățirea structurii programului.</a:t>
            </a:r>
          </a:p>
          <a:p>
            <a:pPr algn="just"/>
            <a:endParaRPr lang="ro-RO" dirty="0">
              <a:solidFill>
                <a:schemeClr val="bg1"/>
              </a:solidFill>
            </a:endParaRPr>
          </a:p>
          <a:p>
            <a:pPr algn="just"/>
            <a:r>
              <a:rPr lang="ro-RO" dirty="0">
                <a:solidFill>
                  <a:schemeClr val="bg1"/>
                </a:solidFill>
              </a:rPr>
              <a:t>Chiar și cu acest ajutor, proiectul a fost o experiență de învățare importantă. Membrii echipei au aprofundat noțiuni de programare, algoritmică, organizare a codului și dezvoltare de jocuri educaționale. Toți membrii au participat la testare, </a:t>
            </a:r>
            <a:r>
              <a:rPr lang="ro-RO" dirty="0" err="1">
                <a:solidFill>
                  <a:schemeClr val="bg1"/>
                </a:solidFill>
              </a:rPr>
              <a:t>debugging</a:t>
            </a:r>
            <a:r>
              <a:rPr lang="ro-RO" dirty="0">
                <a:solidFill>
                  <a:schemeClr val="bg1"/>
                </a:solidFill>
              </a:rPr>
              <a:t> și optimizarea experienței utilizatorului.</a:t>
            </a:r>
          </a:p>
          <a:p>
            <a:pPr algn="just"/>
            <a:endParaRPr lang="ro-RO" dirty="0">
              <a:solidFill>
                <a:schemeClr val="bg1"/>
              </a:solidFill>
            </a:endParaRPr>
          </a:p>
          <a:p>
            <a:pPr algn="just"/>
            <a:r>
              <a:rPr lang="ro-RO" dirty="0" err="1">
                <a:solidFill>
                  <a:schemeClr val="bg1"/>
                </a:solidFill>
              </a:rPr>
              <a:t>Repository</a:t>
            </a:r>
            <a:r>
              <a:rPr lang="ro-RO" dirty="0">
                <a:solidFill>
                  <a:schemeClr val="bg1"/>
                </a:solidFill>
              </a:rPr>
              <a:t> </a:t>
            </a:r>
            <a:r>
              <a:rPr lang="ro-RO" dirty="0" err="1">
                <a:solidFill>
                  <a:schemeClr val="bg1"/>
                </a:solidFill>
              </a:rPr>
              <a:t>GitHub</a:t>
            </a:r>
            <a:r>
              <a:rPr lang="ro-RO" dirty="0">
                <a:solidFill>
                  <a:schemeClr val="bg1"/>
                </a:solidFill>
              </a:rPr>
              <a:t>:  </a:t>
            </a:r>
          </a:p>
          <a:p>
            <a:pPr algn="just"/>
            <a:r>
              <a:rPr lang="ro-RO" dirty="0">
                <a:solidFill>
                  <a:schemeClr val="bg1"/>
                </a:solidFill>
                <a:hlinkClick r:id="rId4"/>
              </a:rPr>
              <a:t>https://github.com/cosminqx/ScienceQuest</a:t>
            </a:r>
            <a:endParaRPr lang="ro-RO" dirty="0">
              <a:solidFill>
                <a:schemeClr val="bg1"/>
              </a:solidFill>
            </a:endParaRPr>
          </a:p>
        </p:txBody>
      </p:sp>
      <p:pic>
        <p:nvPicPr>
          <p:cNvPr id="9" name="Imagine 8" descr="O imagine care conține captură de ecran, întuneric, pixel, noapte&#10;&#10;Conținutul generat de inteligența artificială poate fi incorect.">
            <a:extLst>
              <a:ext uri="{FF2B5EF4-FFF2-40B4-BE49-F238E27FC236}">
                <a16:creationId xmlns:a16="http://schemas.microsoft.com/office/drawing/2014/main" id="{EA7028D8-602D-7634-6C02-9DC91F09C2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71367" y="-98979"/>
            <a:ext cx="11316433" cy="7335609"/>
          </a:xfrm>
          <a:prstGeom prst="rect">
            <a:avLst/>
          </a:prstGeom>
        </p:spPr>
      </p:pic>
      <p:pic>
        <p:nvPicPr>
          <p:cNvPr id="10" name="Imagine 9" descr="O imagine care conține text, Font, captură de ecran, Grafică&#10;&#10;Conținutul generat de inteligența artificială poate fi incorect.">
            <a:extLst>
              <a:ext uri="{FF2B5EF4-FFF2-40B4-BE49-F238E27FC236}">
                <a16:creationId xmlns:a16="http://schemas.microsoft.com/office/drawing/2014/main" id="{AB5015CC-8A0A-5760-17A1-F2CD7656358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29095" y="-1682228"/>
            <a:ext cx="6772275" cy="1714500"/>
          </a:xfrm>
          <a:prstGeom prst="rect">
            <a:avLst/>
          </a:prstGeom>
        </p:spPr>
      </p:pic>
    </p:spTree>
    <p:extLst>
      <p:ext uri="{BB962C8B-B14F-4D97-AF65-F5344CB8AC3E}">
        <p14:creationId xmlns:p14="http://schemas.microsoft.com/office/powerpoint/2010/main" val="16686537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2A235-05E5-E3B1-E7D4-8290862FA048}"/>
            </a:ext>
          </a:extLst>
        </p:cNvPr>
        <p:cNvGrpSpPr/>
        <p:nvPr/>
      </p:nvGrpSpPr>
      <p:grpSpPr>
        <a:xfrm>
          <a:off x="0" y="0"/>
          <a:ext cx="0" cy="0"/>
          <a:chOff x="0" y="0"/>
          <a:chExt cx="0" cy="0"/>
        </a:xfrm>
      </p:grpSpPr>
      <p:pic>
        <p:nvPicPr>
          <p:cNvPr id="5" name="Imagine 4" descr="O imagine care conține cer, Color, copac, nor&#10;&#10;Conținutul generat de inteligența artificială poate fi incorect.">
            <a:extLst>
              <a:ext uri="{FF2B5EF4-FFF2-40B4-BE49-F238E27FC236}">
                <a16:creationId xmlns:a16="http://schemas.microsoft.com/office/drawing/2014/main" id="{5AB5B078-C497-8820-B845-2F54B31E65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277725" cy="6885757"/>
          </a:xfrm>
          <a:prstGeom prst="rect">
            <a:avLst/>
          </a:prstGeom>
        </p:spPr>
      </p:pic>
      <p:sp>
        <p:nvSpPr>
          <p:cNvPr id="6" name="Dreptunghi 5">
            <a:extLst>
              <a:ext uri="{FF2B5EF4-FFF2-40B4-BE49-F238E27FC236}">
                <a16:creationId xmlns:a16="http://schemas.microsoft.com/office/drawing/2014/main" id="{6D1608AC-5789-4378-CE7C-F0F36723536B}"/>
              </a:ext>
            </a:extLst>
          </p:cNvPr>
          <p:cNvSpPr/>
          <p:nvPr/>
        </p:nvSpPr>
        <p:spPr>
          <a:xfrm>
            <a:off x="-1" y="0"/>
            <a:ext cx="12501371" cy="7137653"/>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ro-RO" dirty="0"/>
          </a:p>
        </p:txBody>
      </p:sp>
      <p:pic>
        <p:nvPicPr>
          <p:cNvPr id="3" name="Imagine 2">
            <a:extLst>
              <a:ext uri="{FF2B5EF4-FFF2-40B4-BE49-F238E27FC236}">
                <a16:creationId xmlns:a16="http://schemas.microsoft.com/office/drawing/2014/main" id="{5854960B-92A3-F817-FF19-22AAD9D576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87884" y="2134371"/>
            <a:ext cx="3324226" cy="3324226"/>
          </a:xfrm>
          <a:prstGeom prst="rect">
            <a:avLst/>
          </a:prstGeom>
        </p:spPr>
      </p:pic>
      <p:sp>
        <p:nvSpPr>
          <p:cNvPr id="8" name="CasetăText 7">
            <a:extLst>
              <a:ext uri="{FF2B5EF4-FFF2-40B4-BE49-F238E27FC236}">
                <a16:creationId xmlns:a16="http://schemas.microsoft.com/office/drawing/2014/main" id="{7ACC15E3-E413-D0BF-F24A-4D634C23CE24}"/>
              </a:ext>
            </a:extLst>
          </p:cNvPr>
          <p:cNvSpPr txBox="1"/>
          <p:nvPr/>
        </p:nvSpPr>
        <p:spPr>
          <a:xfrm>
            <a:off x="636710" y="3011654"/>
            <a:ext cx="8014464" cy="1938992"/>
          </a:xfrm>
          <a:prstGeom prst="rect">
            <a:avLst/>
          </a:prstGeom>
          <a:noFill/>
        </p:spPr>
        <p:txBody>
          <a:bodyPr wrap="square" rtlCol="0">
            <a:spAutoFit/>
          </a:bodyPr>
          <a:lstStyle/>
          <a:p>
            <a:pPr algn="ctr"/>
            <a:r>
              <a:rPr lang="ro-RO" sz="2400" dirty="0">
                <a:solidFill>
                  <a:schemeClr val="bg1"/>
                </a:solidFill>
              </a:rPr>
              <a:t>Pentru a ilustra funcționarea jocului și experiența completă de utilizare, a fost realizat un clip video demonstrativ.</a:t>
            </a:r>
          </a:p>
          <a:p>
            <a:pPr algn="ctr"/>
            <a:endParaRPr lang="ro-RO" sz="2400" dirty="0">
              <a:solidFill>
                <a:schemeClr val="bg1"/>
              </a:solidFill>
            </a:endParaRPr>
          </a:p>
          <a:p>
            <a:pPr algn="ctr"/>
            <a:r>
              <a:rPr lang="ro-RO" sz="2400" dirty="0">
                <a:solidFill>
                  <a:schemeClr val="bg1"/>
                </a:solidFill>
              </a:rPr>
              <a:t>Link video </a:t>
            </a:r>
            <a:r>
              <a:rPr lang="ro-RO" sz="2400" dirty="0" err="1">
                <a:solidFill>
                  <a:schemeClr val="bg1"/>
                </a:solidFill>
              </a:rPr>
              <a:t>YouTube</a:t>
            </a:r>
            <a:r>
              <a:rPr lang="ro-RO" sz="2400" dirty="0">
                <a:solidFill>
                  <a:schemeClr val="bg1"/>
                </a:solidFill>
              </a:rPr>
              <a:t> – </a:t>
            </a:r>
            <a:r>
              <a:rPr lang="ro-RO" sz="2400" dirty="0" err="1">
                <a:solidFill>
                  <a:schemeClr val="bg1"/>
                </a:solidFill>
              </a:rPr>
              <a:t>unlisted</a:t>
            </a:r>
            <a:r>
              <a:rPr lang="ro-RO" sz="2400" dirty="0">
                <a:solidFill>
                  <a:schemeClr val="bg1"/>
                </a:solidFill>
              </a:rPr>
              <a:t>: </a:t>
            </a:r>
            <a:r>
              <a:rPr lang="ro-RO" sz="2400" dirty="0">
                <a:solidFill>
                  <a:schemeClr val="bg1"/>
                </a:solidFill>
                <a:hlinkClick r:id="rId5"/>
              </a:rPr>
              <a:t>https://youtu.be/nTsHQOLqoOo</a:t>
            </a:r>
            <a:endParaRPr lang="ro-RO" sz="2400" dirty="0">
              <a:solidFill>
                <a:schemeClr val="bg1"/>
              </a:solidFill>
            </a:endParaRPr>
          </a:p>
        </p:txBody>
      </p:sp>
      <p:pic>
        <p:nvPicPr>
          <p:cNvPr id="15" name="Imagine 14" descr="O imagine care conține text, Font, simbol, Grafică&#10;&#10;Conținutul generat de inteligența artificială poate fi incorect.">
            <a:extLst>
              <a:ext uri="{FF2B5EF4-FFF2-40B4-BE49-F238E27FC236}">
                <a16:creationId xmlns:a16="http://schemas.microsoft.com/office/drawing/2014/main" id="{4DD67D91-7606-63FC-D412-B24407BE76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87546" y="949385"/>
            <a:ext cx="5400675" cy="1714500"/>
          </a:xfrm>
          <a:prstGeom prst="rect">
            <a:avLst/>
          </a:prstGeom>
        </p:spPr>
      </p:pic>
    </p:spTree>
    <p:extLst>
      <p:ext uri="{BB962C8B-B14F-4D97-AF65-F5344CB8AC3E}">
        <p14:creationId xmlns:p14="http://schemas.microsoft.com/office/powerpoint/2010/main" val="2737301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4414F-4786-85CD-6D61-101251211B7A}"/>
            </a:ext>
          </a:extLst>
        </p:cNvPr>
        <p:cNvGrpSpPr/>
        <p:nvPr/>
      </p:nvGrpSpPr>
      <p:grpSpPr>
        <a:xfrm>
          <a:off x="0" y="0"/>
          <a:ext cx="0" cy="0"/>
          <a:chOff x="0" y="0"/>
          <a:chExt cx="0" cy="0"/>
        </a:xfrm>
      </p:grpSpPr>
      <p:pic>
        <p:nvPicPr>
          <p:cNvPr id="5" name="Imagine 4" descr="O imagine care conține cer, Color, copac, nor&#10;&#10;Conținutul generat de inteligența artificială poate fi incorect.">
            <a:extLst>
              <a:ext uri="{FF2B5EF4-FFF2-40B4-BE49-F238E27FC236}">
                <a16:creationId xmlns:a16="http://schemas.microsoft.com/office/drawing/2014/main" id="{0AD85663-06BA-337B-082D-39EC355244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277725" cy="6885757"/>
          </a:xfrm>
          <a:prstGeom prst="rect">
            <a:avLst/>
          </a:prstGeom>
        </p:spPr>
      </p:pic>
      <p:sp>
        <p:nvSpPr>
          <p:cNvPr id="6" name="Dreptunghi 5">
            <a:extLst>
              <a:ext uri="{FF2B5EF4-FFF2-40B4-BE49-F238E27FC236}">
                <a16:creationId xmlns:a16="http://schemas.microsoft.com/office/drawing/2014/main" id="{7B12FAFB-875F-3FBB-4EF9-380BF50CAE27}"/>
              </a:ext>
            </a:extLst>
          </p:cNvPr>
          <p:cNvSpPr/>
          <p:nvPr/>
        </p:nvSpPr>
        <p:spPr>
          <a:xfrm>
            <a:off x="-1" y="0"/>
            <a:ext cx="12501371" cy="7137653"/>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ro-RO" dirty="0"/>
          </a:p>
        </p:txBody>
      </p:sp>
      <p:pic>
        <p:nvPicPr>
          <p:cNvPr id="3" name="Imagine 2">
            <a:extLst>
              <a:ext uri="{FF2B5EF4-FFF2-40B4-BE49-F238E27FC236}">
                <a16:creationId xmlns:a16="http://schemas.microsoft.com/office/drawing/2014/main" id="{4019C48C-EA00-F88D-4135-1DDC6B662E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87884" y="2134371"/>
            <a:ext cx="3324226" cy="3324226"/>
          </a:xfrm>
          <a:prstGeom prst="rect">
            <a:avLst/>
          </a:prstGeom>
        </p:spPr>
      </p:pic>
      <p:sp>
        <p:nvSpPr>
          <p:cNvPr id="7" name="CasetăText 6">
            <a:extLst>
              <a:ext uri="{FF2B5EF4-FFF2-40B4-BE49-F238E27FC236}">
                <a16:creationId xmlns:a16="http://schemas.microsoft.com/office/drawing/2014/main" id="{243B7F8F-E4EB-AF11-6792-94EF6BBA8A74}"/>
              </a:ext>
            </a:extLst>
          </p:cNvPr>
          <p:cNvSpPr txBox="1"/>
          <p:nvPr/>
        </p:nvSpPr>
        <p:spPr>
          <a:xfrm>
            <a:off x="552956" y="1862667"/>
            <a:ext cx="5755514" cy="646331"/>
          </a:xfrm>
          <a:prstGeom prst="rect">
            <a:avLst/>
          </a:prstGeom>
          <a:noFill/>
        </p:spPr>
        <p:txBody>
          <a:bodyPr wrap="square" rtlCol="0">
            <a:spAutoFit/>
          </a:bodyPr>
          <a:lstStyle/>
          <a:p>
            <a:r>
              <a:rPr lang="ro-RO" sz="3600" dirty="0">
                <a:solidFill>
                  <a:schemeClr val="bg1"/>
                </a:solidFill>
                <a:latin typeface="+mj-lt"/>
                <a:ea typeface="ByteBounce" panose="02000603000000000000" pitchFamily="2" charset="0"/>
              </a:rPr>
              <a:t>Concluzii și observații finale</a:t>
            </a:r>
          </a:p>
        </p:txBody>
      </p:sp>
      <p:sp>
        <p:nvSpPr>
          <p:cNvPr id="8" name="CasetăText 7">
            <a:extLst>
              <a:ext uri="{FF2B5EF4-FFF2-40B4-BE49-F238E27FC236}">
                <a16:creationId xmlns:a16="http://schemas.microsoft.com/office/drawing/2014/main" id="{6787921A-1B04-A932-425C-DD2B57D28720}"/>
              </a:ext>
            </a:extLst>
          </p:cNvPr>
          <p:cNvSpPr txBox="1"/>
          <p:nvPr/>
        </p:nvSpPr>
        <p:spPr>
          <a:xfrm>
            <a:off x="546622" y="2915781"/>
            <a:ext cx="8014464" cy="2031325"/>
          </a:xfrm>
          <a:prstGeom prst="rect">
            <a:avLst/>
          </a:prstGeom>
          <a:noFill/>
        </p:spPr>
        <p:txBody>
          <a:bodyPr wrap="square" rtlCol="0">
            <a:spAutoFit/>
          </a:bodyPr>
          <a:lstStyle/>
          <a:p>
            <a:pPr algn="just"/>
            <a:r>
              <a:rPr lang="ro-RO" dirty="0" err="1">
                <a:solidFill>
                  <a:schemeClr val="bg1"/>
                </a:solidFill>
              </a:rPr>
              <a:t>ScienceQuest</a:t>
            </a:r>
            <a:r>
              <a:rPr lang="ro-RO" dirty="0">
                <a:solidFill>
                  <a:schemeClr val="bg1"/>
                </a:solidFill>
              </a:rPr>
              <a:t> demonstrează că învățarea poate fi eficientă atunci când este îmbinată cu elemente interactive și ludice. Jocul facilitează înțelegerea conceptelor științifice prin aplicare practică și feedback imediat.</a:t>
            </a:r>
          </a:p>
          <a:p>
            <a:pPr algn="just"/>
            <a:endParaRPr lang="ro-RO" dirty="0">
              <a:solidFill>
                <a:schemeClr val="bg1"/>
              </a:solidFill>
            </a:endParaRPr>
          </a:p>
          <a:p>
            <a:pPr algn="just"/>
            <a:r>
              <a:rPr lang="ro-RO" dirty="0">
                <a:solidFill>
                  <a:schemeClr val="bg1"/>
                </a:solidFill>
              </a:rPr>
              <a:t>Proiectul poate fi extins în viitor prin adăugarea de noi discipline, niveluri sau întrebări, devenind un instrument educațional util atât în clasă, cât și pentru studiul individual.</a:t>
            </a:r>
          </a:p>
        </p:txBody>
      </p:sp>
      <p:pic>
        <p:nvPicPr>
          <p:cNvPr id="10" name="Imagine 9" descr="O imagine care conține text, Font, captură de ecran, Grafică&#10;&#10;Conținutul generat de inteligența artificială poate fi incorect.">
            <a:extLst>
              <a:ext uri="{FF2B5EF4-FFF2-40B4-BE49-F238E27FC236}">
                <a16:creationId xmlns:a16="http://schemas.microsoft.com/office/drawing/2014/main" id="{38BFAB3F-AB45-AFF9-98E3-52BEAB6782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5449" y="731375"/>
            <a:ext cx="6772275" cy="1714500"/>
          </a:xfrm>
          <a:prstGeom prst="rect">
            <a:avLst/>
          </a:prstGeom>
        </p:spPr>
      </p:pic>
      <p:pic>
        <p:nvPicPr>
          <p:cNvPr id="15" name="Imagine 14" descr="O imagine care conține text, Font, simbol, Grafică&#10;&#10;Conținutul generat de inteligența artificială poate fi incorect.">
            <a:extLst>
              <a:ext uri="{FF2B5EF4-FFF2-40B4-BE49-F238E27FC236}">
                <a16:creationId xmlns:a16="http://schemas.microsoft.com/office/drawing/2014/main" id="{D8412E3E-E90C-4A18-850C-6BD2E2D791A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08470" y="-1714500"/>
            <a:ext cx="5400675" cy="1714500"/>
          </a:xfrm>
          <a:prstGeom prst="rect">
            <a:avLst/>
          </a:prstGeom>
        </p:spPr>
      </p:pic>
    </p:spTree>
    <p:extLst>
      <p:ext uri="{BB962C8B-B14F-4D97-AF65-F5344CB8AC3E}">
        <p14:creationId xmlns:p14="http://schemas.microsoft.com/office/powerpoint/2010/main" val="1228109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ă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ă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261</TotalTime>
  <Words>966</Words>
  <Application>Microsoft Macintosh PowerPoint</Application>
  <PresentationFormat>Widescreen</PresentationFormat>
  <Paragraphs>83</Paragraphs>
  <Slides>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Bytebounce</vt:lpstr>
      <vt:lpstr>Bytebounce</vt:lpstr>
      <vt:lpstr>Temă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Elev S24.1</dc:creator>
  <cp:lastModifiedBy>SILVIU-CONSTANTIN CHIȘCĂREANU</cp:lastModifiedBy>
  <cp:revision>6</cp:revision>
  <dcterms:created xsi:type="dcterms:W3CDTF">2026-02-09T10:14:38Z</dcterms:created>
  <dcterms:modified xsi:type="dcterms:W3CDTF">2026-02-10T16:35:24Z</dcterms:modified>
</cp:coreProperties>
</file>